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0" r:id="rId3"/>
    <p:sldId id="257" r:id="rId4"/>
    <p:sldId id="264" r:id="rId5"/>
    <p:sldId id="259" r:id="rId6"/>
    <p:sldId id="260" r:id="rId7"/>
    <p:sldId id="262" r:id="rId8"/>
    <p:sldId id="263" r:id="rId9"/>
    <p:sldId id="265" r:id="rId10"/>
    <p:sldId id="266" r:id="rId11"/>
    <p:sldId id="267" r:id="rId12"/>
    <p:sldId id="268" r:id="rId13"/>
    <p:sldId id="282" r:id="rId14"/>
    <p:sldId id="269" r:id="rId15"/>
    <p:sldId id="270" r:id="rId16"/>
    <p:sldId id="271" r:id="rId17"/>
    <p:sldId id="272" r:id="rId18"/>
    <p:sldId id="273" r:id="rId19"/>
    <p:sldId id="274" r:id="rId20"/>
    <p:sldId id="284" r:id="rId21"/>
    <p:sldId id="276" r:id="rId22"/>
    <p:sldId id="275" r:id="rId23"/>
    <p:sldId id="277" r:id="rId24"/>
    <p:sldId id="278" r:id="rId25"/>
    <p:sldId id="28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585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6927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4693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9343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227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001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0640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42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3336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667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29056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1067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2407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1748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15538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3141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060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5ACF8F8-F653-45A7-9848-A8ABB0CC2AAC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1B4237A-EF21-45DD-AFC8-EC1C03AEFEA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7097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0EC57-5123-C7B1-126A-85D0ED7E56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200" b="1" dirty="0" err="1">
                <a:solidFill>
                  <a:srgbClr val="002060"/>
                </a:solidFill>
              </a:rPr>
              <a:t>NextHikes</a:t>
            </a:r>
            <a:r>
              <a:rPr lang="en-US" sz="3200" b="1" dirty="0">
                <a:solidFill>
                  <a:srgbClr val="002060"/>
                </a:solidFill>
              </a:rPr>
              <a:t> IT Solutions </a:t>
            </a:r>
            <a:br>
              <a:rPr lang="en-US" sz="3200" b="1" dirty="0"/>
            </a:br>
            <a:r>
              <a:rPr lang="en-US" sz="2800" b="1" dirty="0"/>
              <a:t>Bike Sharing Demand Analysis Project Using Excel</a:t>
            </a:r>
            <a:endParaRPr lang="en-IN" sz="2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AE3496-3D98-D4A1-3354-CD548E1C1F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IN" sz="2800" b="1" dirty="0">
                <a:solidFill>
                  <a:srgbClr val="0070C0"/>
                </a:solidFill>
              </a:rPr>
              <a:t>Preprocess Summary Report</a:t>
            </a:r>
          </a:p>
        </p:txBody>
      </p:sp>
    </p:spTree>
    <p:extLst>
      <p:ext uri="{BB962C8B-B14F-4D97-AF65-F5344CB8AC3E}">
        <p14:creationId xmlns:p14="http://schemas.microsoft.com/office/powerpoint/2010/main" val="1216019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9AE7F-2991-D9DB-DAB1-AA482F31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F9705-E664-DD7F-9D30-56FC729367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002060"/>
                </a:solidFill>
              </a:rPr>
              <a:t>Priyanka Singh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049047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F9941-86CA-365F-E54F-B3A80D5B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1 - Data Set 1 Preprocess Report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A842791-ED0E-6D22-E58D-3F7BEC2AF5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9769528"/>
              </p:ext>
            </p:extLst>
          </p:nvPr>
        </p:nvGraphicFramePr>
        <p:xfrm>
          <a:off x="1442301" y="2562860"/>
          <a:ext cx="9360817" cy="3313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46970">
                  <a:extLst>
                    <a:ext uri="{9D8B030D-6E8A-4147-A177-3AD203B41FA5}">
                      <a16:colId xmlns:a16="http://schemas.microsoft.com/office/drawing/2014/main" val="64073366"/>
                    </a:ext>
                  </a:extLst>
                </a:gridCol>
                <a:gridCol w="5313847">
                  <a:extLst>
                    <a:ext uri="{9D8B030D-6E8A-4147-A177-3AD203B41FA5}">
                      <a16:colId xmlns:a16="http://schemas.microsoft.com/office/drawing/2014/main" val="1410569741"/>
                    </a:ext>
                  </a:extLst>
                </a:gridCol>
              </a:tblGrid>
              <a:tr h="414126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Preprocessing Summary Report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481684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04947396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Step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Detail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28657698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Original Shape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610 rows × 10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0001690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After Preprocessing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610 rows × 11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10271073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Duplicates Found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 (None removed)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18545837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Values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 in all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41512351"/>
                  </a:ext>
                </a:extLst>
              </a:tr>
              <a:tr h="41412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08105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0598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81293-19CB-BFB3-35B5-388533032D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206123"/>
              </p:ext>
            </p:extLst>
          </p:nvPr>
        </p:nvGraphicFramePr>
        <p:xfrm>
          <a:off x="1319753" y="1093509"/>
          <a:ext cx="9336464" cy="458053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2617">
                  <a:extLst>
                    <a:ext uri="{9D8B030D-6E8A-4147-A177-3AD203B41FA5}">
                      <a16:colId xmlns:a16="http://schemas.microsoft.com/office/drawing/2014/main" val="1014633968"/>
                    </a:ext>
                  </a:extLst>
                </a:gridCol>
                <a:gridCol w="5313847">
                  <a:extLst>
                    <a:ext uri="{9D8B030D-6E8A-4147-A177-3AD203B41FA5}">
                      <a16:colId xmlns:a16="http://schemas.microsoft.com/office/drawing/2014/main" val="1442050269"/>
                    </a:ext>
                  </a:extLst>
                </a:gridCol>
              </a:tblGrid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Transformations Applied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71626777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season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1→Spring, 2→Summer, 3→Fall, 4→Winter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16550804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yr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0→2011, 1→2012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5693588"/>
                  </a:ext>
                </a:extLst>
              </a:tr>
              <a:tr h="90714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weathersit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1→Clear, 2→Mist/Cloudy, 3→Light Rain/Snow, 4→Heavy Rain/Snow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275779195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holiday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True/False → Yes/No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79423704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weekday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0→Sunday … 6→Saturday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03044085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mnth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1→Jan … 12→Dec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72578660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 err="1">
                          <a:effectLst/>
                        </a:rPr>
                        <a:t>temp_celsius</a:t>
                      </a:r>
                      <a:r>
                        <a:rPr lang="en-IN" sz="2000" u="none" strike="noStrike" dirty="0">
                          <a:effectLst/>
                        </a:rPr>
                        <a:t> (new col)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 err="1">
                          <a:effectLst/>
                        </a:rPr>
                        <a:t>Temp_Normalized</a:t>
                      </a:r>
                      <a:r>
                        <a:rPr lang="en-IN" sz="2000" u="none" strike="noStrike" dirty="0">
                          <a:effectLst/>
                        </a:rPr>
                        <a:t> × 41 → Actual °C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82034344"/>
                  </a:ext>
                </a:extLst>
              </a:tr>
              <a:tr h="45917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dteday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Datetime → Date only (YYYY-MM-DD)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082427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313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96A77D-CBD5-3EA3-1F43-40E2C60E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179648"/>
              </p:ext>
            </p:extLst>
          </p:nvPr>
        </p:nvGraphicFramePr>
        <p:xfrm>
          <a:off x="1282045" y="1300899"/>
          <a:ext cx="9002598" cy="40252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3624">
                  <a:extLst>
                    <a:ext uri="{9D8B030D-6E8A-4147-A177-3AD203B41FA5}">
                      <a16:colId xmlns:a16="http://schemas.microsoft.com/office/drawing/2014/main" val="898537473"/>
                    </a:ext>
                  </a:extLst>
                </a:gridCol>
                <a:gridCol w="5108974">
                  <a:extLst>
                    <a:ext uri="{9D8B030D-6E8A-4147-A177-3AD203B41FA5}">
                      <a16:colId xmlns:a16="http://schemas.microsoft.com/office/drawing/2014/main" val="843514588"/>
                    </a:ext>
                  </a:extLst>
                </a:gridCol>
              </a:tblGrid>
              <a:tr h="6237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Column Renames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71677784"/>
                  </a:ext>
                </a:extLst>
              </a:tr>
              <a:tr h="6237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instant → </a:t>
                      </a:r>
                      <a:r>
                        <a:rPr lang="en-IN" sz="2000" u="none" strike="noStrike" dirty="0" err="1">
                          <a:effectLst/>
                        </a:rPr>
                        <a:t>Record_ID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dteday → Date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3139213"/>
                  </a:ext>
                </a:extLst>
              </a:tr>
              <a:tr h="6237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season → Season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yr → Year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71295096"/>
                  </a:ext>
                </a:extLst>
              </a:tr>
              <a:tr h="6237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 err="1">
                          <a:effectLst/>
                        </a:rPr>
                        <a:t>mnth</a:t>
                      </a:r>
                      <a:r>
                        <a:rPr lang="en-IN" sz="2000" u="none" strike="noStrike" dirty="0">
                          <a:effectLst/>
                        </a:rPr>
                        <a:t> → Month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hr → Hour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99544819"/>
                  </a:ext>
                </a:extLst>
              </a:tr>
              <a:tr h="90632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holiday → Is_Holiday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weekday → Weekday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13369426"/>
                  </a:ext>
                </a:extLst>
              </a:tr>
              <a:tr h="6237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weathersit → Weather_Situation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temp → </a:t>
                      </a:r>
                      <a:r>
                        <a:rPr lang="en-IN" sz="2000" u="none" strike="noStrike" dirty="0" err="1">
                          <a:effectLst/>
                        </a:rPr>
                        <a:t>Temp_Normalized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7617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9085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3E83-9E9E-7CBA-1528-162C4D6D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2DDA7-A4FB-DD36-06EE-A941E216B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2 - Data Set 2 Preprocess Report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83883159-60BB-5CD6-0562-D05FF53A94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9489572"/>
              </p:ext>
            </p:extLst>
          </p:nvPr>
        </p:nvGraphicFramePr>
        <p:xfrm>
          <a:off x="1295402" y="2648931"/>
          <a:ext cx="9460582" cy="3431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53034">
                  <a:extLst>
                    <a:ext uri="{9D8B030D-6E8A-4147-A177-3AD203B41FA5}">
                      <a16:colId xmlns:a16="http://schemas.microsoft.com/office/drawing/2014/main" val="188132289"/>
                    </a:ext>
                  </a:extLst>
                </a:gridCol>
                <a:gridCol w="5307548">
                  <a:extLst>
                    <a:ext uri="{9D8B030D-6E8A-4147-A177-3AD203B41FA5}">
                      <a16:colId xmlns:a16="http://schemas.microsoft.com/office/drawing/2014/main" val="4269866845"/>
                    </a:ext>
                  </a:extLst>
                </a:gridCol>
              </a:tblGrid>
              <a:tr h="343136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OVERVIEW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998390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Original Shape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610 rows × 15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0965024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Final Shape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610 rows × 10 columns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059641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29334110"/>
                  </a:ext>
                </a:extLst>
              </a:tr>
              <a:tr h="343136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1 — Junk Column Removal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018114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Columns Removed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8 unwanted columns dropped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31586581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'Unnamed: 0'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Redundant row index copy</a:t>
                      </a:r>
                      <a:endParaRPr lang="en-IN" sz="2000" b="0" i="0" u="none" strike="noStrike" dirty="0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54380934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'Unnamed: 8/12'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Completely empty columns (610/610 NaN)</a:t>
                      </a:r>
                      <a:endParaRPr lang="en-US" sz="2000" b="0" i="0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46710153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'Mean','Mode','Median'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Completely empty columns (610/610 NaN)</a:t>
                      </a:r>
                      <a:endParaRPr lang="en-US" sz="2000" b="0" i="0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19168330"/>
                  </a:ext>
                </a:extLst>
              </a:tr>
              <a:tr h="3431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'0.2879' + 'Unnamed: 14'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Stats sidebar accidentally embedded in sheet</a:t>
                      </a:r>
                      <a:endParaRPr lang="en-US" sz="2000" b="0" i="0" u="none" strike="noStrike" dirty="0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54263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5070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553D27-DD23-96B9-3521-ACCBAE1B0C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331659"/>
              </p:ext>
            </p:extLst>
          </p:nvPr>
        </p:nvGraphicFramePr>
        <p:xfrm>
          <a:off x="1168923" y="1074656"/>
          <a:ext cx="9700181" cy="4835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58214">
                  <a:extLst>
                    <a:ext uri="{9D8B030D-6E8A-4147-A177-3AD203B41FA5}">
                      <a16:colId xmlns:a16="http://schemas.microsoft.com/office/drawing/2014/main" val="190943816"/>
                    </a:ext>
                  </a:extLst>
                </a:gridCol>
                <a:gridCol w="5441967">
                  <a:extLst>
                    <a:ext uri="{9D8B030D-6E8A-4147-A177-3AD203B41FA5}">
                      <a16:colId xmlns:a16="http://schemas.microsoft.com/office/drawing/2014/main" val="3887415897"/>
                    </a:ext>
                  </a:extLst>
                </a:gridCol>
              </a:tblGrid>
              <a:tr h="537328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2 — Duplicate Removal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55051"/>
                  </a:ext>
                </a:extLst>
              </a:tr>
              <a:tr h="5373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Duplicates Found &amp; Dropped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12068058"/>
                  </a:ext>
                </a:extLst>
              </a:tr>
              <a:tr h="5373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31445777"/>
                  </a:ext>
                </a:extLst>
              </a:tr>
              <a:tr h="537328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3 — Missing Value Treatment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5887950"/>
                  </a:ext>
                </a:extLst>
              </a:tr>
              <a:tr h="5373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'</a:t>
                      </a:r>
                      <a:r>
                        <a:rPr lang="en-IN" sz="2000" u="none" strike="noStrike" dirty="0" err="1">
                          <a:effectLst/>
                        </a:rPr>
                        <a:t>atemp</a:t>
                      </a:r>
                      <a:r>
                        <a:rPr lang="en-IN" sz="2000" u="none" strike="noStrike" dirty="0">
                          <a:effectLst/>
                        </a:rPr>
                        <a:t>' column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11 nulls filled with median = 0.197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81644041"/>
                  </a:ext>
                </a:extLst>
              </a:tr>
              <a:tr h="5373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Strategy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Median imputation</a:t>
                      </a:r>
                      <a:endParaRPr lang="en-US" sz="2000" b="0" i="0" u="none" strike="noStrike" dirty="0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9656867"/>
                  </a:ext>
                </a:extLst>
              </a:tr>
              <a:tr h="5373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94441252"/>
                  </a:ext>
                </a:extLst>
              </a:tr>
              <a:tr h="537328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4 — Numeric Inconsistency Fix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05273"/>
                  </a:ext>
                </a:extLst>
              </a:tr>
              <a:tr h="5373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'hum' = 1.0 (100% humidity)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1 row(s) capped to 0.99 (sensor anomaly)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7859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735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695BD1-6E26-2DE3-BD17-8C9FD139A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1806781"/>
              </p:ext>
            </p:extLst>
          </p:nvPr>
        </p:nvGraphicFramePr>
        <p:xfrm>
          <a:off x="1046375" y="1027521"/>
          <a:ext cx="9860437" cy="49679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564">
                  <a:extLst>
                    <a:ext uri="{9D8B030D-6E8A-4147-A177-3AD203B41FA5}">
                      <a16:colId xmlns:a16="http://schemas.microsoft.com/office/drawing/2014/main" val="3692073473"/>
                    </a:ext>
                  </a:extLst>
                </a:gridCol>
                <a:gridCol w="5531873">
                  <a:extLst>
                    <a:ext uri="{9D8B030D-6E8A-4147-A177-3AD203B41FA5}">
                      <a16:colId xmlns:a16="http://schemas.microsoft.com/office/drawing/2014/main" val="3738413995"/>
                    </a:ext>
                  </a:extLst>
                </a:gridCol>
              </a:tblGrid>
              <a:tr h="496793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5 — Denormalization (New Columns)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370167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'atemp_celsius'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Feels_Like_Temp_Norm × 50 → °C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48188000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'</a:t>
                      </a:r>
                      <a:r>
                        <a:rPr lang="en-IN" sz="2000" u="none" strike="noStrike" dirty="0" err="1">
                          <a:effectLst/>
                        </a:rPr>
                        <a:t>humidity_pct</a:t>
                      </a:r>
                      <a:r>
                        <a:rPr lang="en-IN" sz="2000" u="none" strike="noStrike" dirty="0">
                          <a:effectLst/>
                        </a:rPr>
                        <a:t>'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Humidity_Norm × 100 → %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31089402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'windspeed_kmh'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l-NL" sz="2000" u="none" strike="noStrike">
                          <a:effectLst/>
                        </a:rPr>
                        <a:t>Windspeed_Norm × 67 → km/h</a:t>
                      </a:r>
                      <a:endParaRPr lang="nl-NL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7910588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2102353"/>
                  </a:ext>
                </a:extLst>
              </a:tr>
              <a:tr h="496793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6 — Column Renames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937828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instant → Record_ID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atemp → Feels_Like_Temp_Norm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13401157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 → Humidity_Norm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windspeed → Windspeed_Norm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83802511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casual → Casual_Users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registered → Registered_Users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44570323"/>
                  </a:ext>
                </a:extLst>
              </a:tr>
              <a:tr h="49679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cnt → Total_Users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 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95644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8320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F7369-654E-B368-DB2F-50FE72790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5A789-1EE7-6013-843E-226ED9666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3 - Data Set 3 Preprocess Report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7D84AF8-6F47-46F7-0C6E-DEAB20DC00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1335123"/>
              </p:ext>
            </p:extLst>
          </p:nvPr>
        </p:nvGraphicFramePr>
        <p:xfrm>
          <a:off x="1432874" y="2724345"/>
          <a:ext cx="9370244" cy="3035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62609">
                  <a:extLst>
                    <a:ext uri="{9D8B030D-6E8A-4147-A177-3AD203B41FA5}">
                      <a16:colId xmlns:a16="http://schemas.microsoft.com/office/drawing/2014/main" val="2408159289"/>
                    </a:ext>
                  </a:extLst>
                </a:gridCol>
                <a:gridCol w="5907635">
                  <a:extLst>
                    <a:ext uri="{9D8B030D-6E8A-4147-A177-3AD203B41FA5}">
                      <a16:colId xmlns:a16="http://schemas.microsoft.com/office/drawing/2014/main" val="2701252557"/>
                    </a:ext>
                  </a:extLst>
                </a:gridCol>
              </a:tblGrid>
              <a:tr h="512884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DATASET OVERVIEW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951263"/>
                  </a:ext>
                </a:extLst>
              </a:tr>
              <a:tr h="3349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Original Shape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390 rows × 16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4307408"/>
                  </a:ext>
                </a:extLst>
              </a:tr>
              <a:tr h="3349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Final Shape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390 rows × 17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73974038"/>
                  </a:ext>
                </a:extLst>
              </a:tr>
              <a:tr h="3349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Date Range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2011-01-28  to  2011-02-14 (18 days)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666466"/>
                  </a:ext>
                </a:extLst>
              </a:tr>
              <a:tr h="3349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Record_ID Range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611 – 1000  (continuation of datasets 1 &amp; 2)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66775678"/>
                  </a:ext>
                </a:extLst>
              </a:tr>
              <a:tr h="3349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03699186"/>
                  </a:ext>
                </a:extLst>
              </a:tr>
              <a:tr h="512884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1 — Duplicate Removal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2158914"/>
                  </a:ext>
                </a:extLst>
              </a:tr>
              <a:tr h="33494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Duplicates Found &amp; Dropped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011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494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F6D8E2C-6777-9FC9-52B9-7B9BF25FA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311640"/>
              </p:ext>
            </p:extLst>
          </p:nvPr>
        </p:nvGraphicFramePr>
        <p:xfrm>
          <a:off x="961534" y="914400"/>
          <a:ext cx="10218656" cy="5118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76125">
                  <a:extLst>
                    <a:ext uri="{9D8B030D-6E8A-4147-A177-3AD203B41FA5}">
                      <a16:colId xmlns:a16="http://schemas.microsoft.com/office/drawing/2014/main" val="3342471860"/>
                    </a:ext>
                  </a:extLst>
                </a:gridCol>
                <a:gridCol w="6442531">
                  <a:extLst>
                    <a:ext uri="{9D8B030D-6E8A-4147-A177-3AD203B41FA5}">
                      <a16:colId xmlns:a16="http://schemas.microsoft.com/office/drawing/2014/main" val="2870988723"/>
                    </a:ext>
                  </a:extLst>
                </a:gridCol>
              </a:tblGrid>
              <a:tr h="972167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2 — Missing Values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454145"/>
                  </a:ext>
                </a:extLst>
              </a:tr>
              <a:tr h="6348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Values Found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0  (dataset structurally complete)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88205292"/>
                  </a:ext>
                </a:extLst>
              </a:tr>
              <a:tr h="6348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47965130"/>
                  </a:ext>
                </a:extLst>
              </a:tr>
              <a:tr h="972167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3 — Zero-Variance Column Drop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754392"/>
                  </a:ext>
                </a:extLst>
              </a:tr>
              <a:tr h="6348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'season' dropped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All 390 rows = 1 (Spring only) — no analytical value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79015959"/>
                  </a:ext>
                </a:extLst>
              </a:tr>
              <a:tr h="6348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'yr' dropped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All 390 rows = 0 (year 2011 only) — no analytical value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0928775"/>
                  </a:ext>
                </a:extLst>
              </a:tr>
              <a:tr h="6348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'holiday' dropped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All 390 rows = False — no variation in this slice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242505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343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130A24-C536-9106-DD13-9B24B85DF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88278"/>
              </p:ext>
            </p:extLst>
          </p:nvPr>
        </p:nvGraphicFramePr>
        <p:xfrm>
          <a:off x="980387" y="848411"/>
          <a:ext cx="10077253" cy="5196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23873">
                  <a:extLst>
                    <a:ext uri="{9D8B030D-6E8A-4147-A177-3AD203B41FA5}">
                      <a16:colId xmlns:a16="http://schemas.microsoft.com/office/drawing/2014/main" val="315820652"/>
                    </a:ext>
                  </a:extLst>
                </a:gridCol>
                <a:gridCol w="6353380">
                  <a:extLst>
                    <a:ext uri="{9D8B030D-6E8A-4147-A177-3AD203B41FA5}">
                      <a16:colId xmlns:a16="http://schemas.microsoft.com/office/drawing/2014/main" val="714330231"/>
                    </a:ext>
                  </a:extLst>
                </a:gridCol>
              </a:tblGrid>
              <a:tr h="869671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4 — Humidity Anomaly Fix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3157142"/>
                  </a:ext>
                </a:extLst>
              </a:tr>
              <a:tr h="5679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 = 1.0 rows found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15 rows across 4 dates (sensor saturation)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03986784"/>
                  </a:ext>
                </a:extLst>
              </a:tr>
              <a:tr h="5679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Fix Strategy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Each anomalous value → daily median of valid (non-1.0) hum for that date</a:t>
                      </a:r>
                      <a:endParaRPr lang="en-US" sz="2000" b="0" i="0" u="none" strike="noStrike" dirty="0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25531450"/>
                  </a:ext>
                </a:extLst>
              </a:tr>
              <a:tr h="5679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Anomaly Details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See 'Anomaly Log' sheet for full record-level breakdown</a:t>
                      </a:r>
                      <a:endParaRPr lang="en-US" sz="2000" b="0" i="0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83775475"/>
                  </a:ext>
                </a:extLst>
              </a:tr>
              <a:tr h="5679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1832473"/>
                  </a:ext>
                </a:extLst>
              </a:tr>
              <a:tr h="869671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5 — Valid Edge Cases (Retained)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056309"/>
                  </a:ext>
                </a:extLst>
              </a:tr>
              <a:tr h="5679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windspeed = 0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75 rows retained — calm-wind hours are valid observations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4578262"/>
                  </a:ext>
                </a:extLst>
              </a:tr>
              <a:tr h="5679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hours per day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Partial-day recordings retained as-is (reflect actual sensor gaps)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6376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98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B10481-0A14-F850-397F-42EAC11DD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385118"/>
              </p:ext>
            </p:extLst>
          </p:nvPr>
        </p:nvGraphicFramePr>
        <p:xfrm>
          <a:off x="886119" y="961533"/>
          <a:ext cx="10171521" cy="51703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8707">
                  <a:extLst>
                    <a:ext uri="{9D8B030D-6E8A-4147-A177-3AD203B41FA5}">
                      <a16:colId xmlns:a16="http://schemas.microsoft.com/office/drawing/2014/main" val="3791676570"/>
                    </a:ext>
                  </a:extLst>
                </a:gridCol>
                <a:gridCol w="6412814">
                  <a:extLst>
                    <a:ext uri="{9D8B030D-6E8A-4147-A177-3AD203B41FA5}">
                      <a16:colId xmlns:a16="http://schemas.microsoft.com/office/drawing/2014/main" val="2688464587"/>
                    </a:ext>
                  </a:extLst>
                </a:gridCol>
              </a:tblGrid>
              <a:tr h="692869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6 — Categorical Decoding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89301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mnth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1–12  →  Jan – Dec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9200846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weathersit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1→Clear,  2→Mist/Cloudy,  3→Light Rain/Snow,  4→Heavy Rain/Snow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950296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weekday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0→Sunday … 6→Saturday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55865185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3312307"/>
                  </a:ext>
                </a:extLst>
              </a:tr>
              <a:tr h="692869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STEP 7 — Denormalization (4 New Columns)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948698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temp_celsius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Temp_Norm × 41  →  Actual temperature °C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21208798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atemp_celsius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FeelsLike_Norm × 50  →  Feels-like temperature °C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95326945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humidity_pct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Humidity_Norm × 100  →  Relative humidity %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08477334"/>
                  </a:ext>
                </a:extLst>
              </a:tr>
              <a:tr h="45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windspeed_kmh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l-NL" sz="2000" u="none" strike="noStrike" dirty="0">
                          <a:effectLst/>
                        </a:rPr>
                        <a:t>Windspeed_Norm × 67  →  Wind speed km/h</a:t>
                      </a:r>
                      <a:endParaRPr lang="nl-NL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84621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0371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F5204C-8167-0709-CB25-EB9C9BB346FC}"/>
              </a:ext>
            </a:extLst>
          </p:cNvPr>
          <p:cNvSpPr txBox="1"/>
          <p:nvPr/>
        </p:nvSpPr>
        <p:spPr>
          <a:xfrm>
            <a:off x="1753385" y="1121790"/>
            <a:ext cx="91345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Normalized data (0–1) is multiplied back by its </a:t>
            </a:r>
            <a:r>
              <a:rPr lang="en-IN" b="1" dirty="0"/>
              <a:t>real-world maximum value</a:t>
            </a:r>
            <a:r>
              <a:rPr lang="en-IN" dirty="0"/>
              <a:t> to restore original units — humidity ×100 (max 100%), windspeed ×67 (max 67 km/h), temp ×41 (max 41°C), feels-like ×50 (max 50°C).</a:t>
            </a:r>
          </a:p>
        </p:txBody>
      </p:sp>
    </p:spTree>
    <p:extLst>
      <p:ext uri="{BB962C8B-B14F-4D97-AF65-F5344CB8AC3E}">
        <p14:creationId xmlns:p14="http://schemas.microsoft.com/office/powerpoint/2010/main" val="1344111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9733DDF-2559-899B-455F-92BEE8E0A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161391"/>
              </p:ext>
            </p:extLst>
          </p:nvPr>
        </p:nvGraphicFramePr>
        <p:xfrm>
          <a:off x="1055802" y="1008668"/>
          <a:ext cx="10105534" cy="4920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4323">
                  <a:extLst>
                    <a:ext uri="{9D8B030D-6E8A-4147-A177-3AD203B41FA5}">
                      <a16:colId xmlns:a16="http://schemas.microsoft.com/office/drawing/2014/main" val="196237589"/>
                    </a:ext>
                  </a:extLst>
                </a:gridCol>
                <a:gridCol w="6371211">
                  <a:extLst>
                    <a:ext uri="{9D8B030D-6E8A-4147-A177-3AD203B41FA5}">
                      <a16:colId xmlns:a16="http://schemas.microsoft.com/office/drawing/2014/main" val="3248644515"/>
                    </a:ext>
                  </a:extLst>
                </a:gridCol>
              </a:tblGrid>
              <a:tr h="883220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8 — Column Renames &amp; Reorder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979442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instant → Record_ID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dteday → Date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95612739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mnth → Month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hr → Hour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53833634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weekday → Weekday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 err="1">
                          <a:effectLst/>
                        </a:rPr>
                        <a:t>weathersit</a:t>
                      </a:r>
                      <a:r>
                        <a:rPr lang="en-IN" sz="2000" u="none" strike="noStrike" dirty="0">
                          <a:effectLst/>
                        </a:rPr>
                        <a:t> → </a:t>
                      </a:r>
                      <a:r>
                        <a:rPr lang="en-IN" sz="2000" u="none" strike="noStrike" dirty="0" err="1">
                          <a:effectLst/>
                        </a:rPr>
                        <a:t>Weather_Situation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0873877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 → Temp_Norm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atemp → FeelsLike_Norm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14700565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 → Humidity_Norm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windspeed → Windspeed_Norm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7193016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casual → Casual_Users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registered → Registered_Users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94738669"/>
                  </a:ext>
                </a:extLst>
              </a:tr>
              <a:tr h="5767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cnt → Total_Users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 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5608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3181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C69EE3-442F-4DCE-88F4-CE4EF4E89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365014"/>
              </p:ext>
            </p:extLst>
          </p:nvPr>
        </p:nvGraphicFramePr>
        <p:xfrm>
          <a:off x="961533" y="933255"/>
          <a:ext cx="10209229" cy="50048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72642">
                  <a:extLst>
                    <a:ext uri="{9D8B030D-6E8A-4147-A177-3AD203B41FA5}">
                      <a16:colId xmlns:a16="http://schemas.microsoft.com/office/drawing/2014/main" val="2522854622"/>
                    </a:ext>
                  </a:extLst>
                </a:gridCol>
                <a:gridCol w="6436587">
                  <a:extLst>
                    <a:ext uri="{9D8B030D-6E8A-4147-A177-3AD203B41FA5}">
                      <a16:colId xmlns:a16="http://schemas.microsoft.com/office/drawing/2014/main" val="1703349423"/>
                    </a:ext>
                  </a:extLst>
                </a:gridCol>
              </a:tblGrid>
              <a:tr h="787523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COLUMN GLOSSARY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450619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Record_ID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Unique hourly record (611–1000, continuation of datasets 1 &amp; 2)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10745966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Date</a:t>
                      </a:r>
                      <a:endParaRPr lang="en-IN" sz="2000" b="1" i="0" u="none" strike="noStrike" dirty="0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Observation date (YYYY-MM-DD)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38416903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Month / Hour / Weekday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Temporal labels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78222731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Weather_Situation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Clear / Mist/Cloudy / Light Rain/Snow / Heavy Rain/Snow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90368068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Temp_Norm / FeelsLike_Norm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Normalized values (0–1 scale)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52713714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temp_celsius / atemp_celsius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Human-readable temperature in °C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38923403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humidity_pct / windspeed_kmh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Humidity % and Wind speed km/h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05843474"/>
                  </a:ext>
                </a:extLst>
              </a:tr>
              <a:tr h="5143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Casual / Registered / Total_Users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Bike rental user counts per hour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8117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7707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7696-74B6-818C-0B19-A68509553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E77A0-9100-3C52-D887-339659FBB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Set A (Merge Project 1+2)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FB860C3-E98F-C523-1AA5-6B4AC7E9AF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3938486"/>
              </p:ext>
            </p:extLst>
          </p:nvPr>
        </p:nvGraphicFramePr>
        <p:xfrm>
          <a:off x="1470581" y="2705493"/>
          <a:ext cx="9285403" cy="31279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2026">
                  <a:extLst>
                    <a:ext uri="{9D8B030D-6E8A-4147-A177-3AD203B41FA5}">
                      <a16:colId xmlns:a16="http://schemas.microsoft.com/office/drawing/2014/main" val="2715962093"/>
                    </a:ext>
                  </a:extLst>
                </a:gridCol>
                <a:gridCol w="5803377">
                  <a:extLst>
                    <a:ext uri="{9D8B030D-6E8A-4147-A177-3AD203B41FA5}">
                      <a16:colId xmlns:a16="http://schemas.microsoft.com/office/drawing/2014/main" val="2051753949"/>
                    </a:ext>
                  </a:extLst>
                </a:gridCol>
              </a:tblGrid>
              <a:tr h="470521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MERGE DETAILS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756580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Merge Key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Record_ID (inner join)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7765660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Dataset 1 Shape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610 rows × 11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39467626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Dataset 2 Shape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610 rows × 10 columns (2 header rows fixed)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31220772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After Merge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610 rows × 20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4188948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Final Shape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610 rows × 16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1160470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92726488"/>
                  </a:ext>
                </a:extLst>
              </a:tr>
              <a:tr h="470521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1 — Duplicate Removal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8340970"/>
                  </a:ext>
                </a:extLst>
              </a:tr>
              <a:tr h="3072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Duplicates Found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67776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7713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71D6765-5C54-9DF2-7DA6-1E349195D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683105"/>
              </p:ext>
            </p:extLst>
          </p:nvPr>
        </p:nvGraphicFramePr>
        <p:xfrm>
          <a:off x="1131216" y="857838"/>
          <a:ext cx="10048974" cy="51470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8365">
                  <a:extLst>
                    <a:ext uri="{9D8B030D-6E8A-4147-A177-3AD203B41FA5}">
                      <a16:colId xmlns:a16="http://schemas.microsoft.com/office/drawing/2014/main" val="1254365498"/>
                    </a:ext>
                  </a:extLst>
                </a:gridCol>
                <a:gridCol w="6280609">
                  <a:extLst>
                    <a:ext uri="{9D8B030D-6E8A-4147-A177-3AD203B41FA5}">
                      <a16:colId xmlns:a16="http://schemas.microsoft.com/office/drawing/2014/main" val="3812814661"/>
                    </a:ext>
                  </a:extLst>
                </a:gridCol>
              </a:tblGrid>
              <a:tr h="712443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2 — Missing Value Treatment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10775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Values Found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 (none after merge)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8656301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Strategy</a:t>
                      </a:r>
                      <a:endParaRPr lang="en-IN" sz="2000" b="0" i="1" u="none" strike="noStrike" dirty="0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Median imputation for numeric columns</a:t>
                      </a:r>
                      <a:endParaRPr lang="en-US" sz="2000" b="0" i="0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69143775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71781148"/>
                  </a:ext>
                </a:extLst>
              </a:tr>
              <a:tr h="712443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3 — Redundant Column Removal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932675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'Temp_Normalized'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Kept Temp_Celsius (human-readable °C)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11551631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'Feels_Like_Temp_Norm'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Kept atemp_celsius → renamed FeelsLike_Temp_C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97328353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'Humidity_Norm'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Kept Humidity_Pct (% form is clearer)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74633939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'Windspeed_Norm'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Kept windspeed after recomputing km/h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61710848"/>
                  </a:ext>
                </a:extLst>
              </a:tr>
              <a:tr h="465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'windspeed_kmh' (old)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Dropped — had integer truncation error; recomputed as float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02808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1383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F1F4351-C1C0-BC6C-A6B3-3DAA14CDA7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049749"/>
              </p:ext>
            </p:extLst>
          </p:nvPr>
        </p:nvGraphicFramePr>
        <p:xfrm>
          <a:off x="980388" y="857839"/>
          <a:ext cx="10180948" cy="52214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7856">
                  <a:extLst>
                    <a:ext uri="{9D8B030D-6E8A-4147-A177-3AD203B41FA5}">
                      <a16:colId xmlns:a16="http://schemas.microsoft.com/office/drawing/2014/main" val="3320217669"/>
                    </a:ext>
                  </a:extLst>
                </a:gridCol>
                <a:gridCol w="6363092">
                  <a:extLst>
                    <a:ext uri="{9D8B030D-6E8A-4147-A177-3AD203B41FA5}">
                      <a16:colId xmlns:a16="http://schemas.microsoft.com/office/drawing/2014/main" val="903498926"/>
                    </a:ext>
                  </a:extLst>
                </a:gridCol>
              </a:tblGrid>
              <a:tr h="874450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STEP 4 — Numeric Fix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888657"/>
                  </a:ext>
                </a:extLst>
              </a:tr>
              <a:tr h="5710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Windspeed_kmh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Recomputed: Windspeed_Norm × 67 → float (was int-truncated)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62631613"/>
                  </a:ext>
                </a:extLst>
              </a:tr>
              <a:tr h="5710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Date column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Datetime stripped to Date only (YYYY-MM-DD)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1276284"/>
                  </a:ext>
                </a:extLst>
              </a:tr>
              <a:tr h="5710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50675649"/>
                  </a:ext>
                </a:extLst>
              </a:tr>
              <a:tr h="874450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STEP 5 — Column Reordering &amp; Rename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274619"/>
                  </a:ext>
                </a:extLst>
              </a:tr>
              <a:tr h="5710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Final Column Order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ID → Date/Time → Day Info → Weather → Climate → Users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3065283"/>
                  </a:ext>
                </a:extLst>
              </a:tr>
              <a:tr h="5710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atemp_celsius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→ FeelsLike_Temp_C</a:t>
                      </a:r>
                      <a:endParaRPr lang="en-IN" sz="2000" b="0" i="0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94557842"/>
                  </a:ext>
                </a:extLst>
              </a:tr>
              <a:tr h="5710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humidity_pct</a:t>
                      </a:r>
                      <a:endParaRPr lang="en-IN" sz="2000" b="0" i="1" u="none" strike="noStrike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→ </a:t>
                      </a:r>
                      <a:r>
                        <a:rPr lang="en-IN" sz="2000" u="none" strike="noStrike" dirty="0" err="1">
                          <a:effectLst/>
                        </a:rPr>
                        <a:t>Humidity_Pct</a:t>
                      </a:r>
                      <a:endParaRPr lang="en-IN" sz="2000" b="0" i="0" u="none" strike="noStrike" dirty="0">
                        <a:solidFill>
                          <a:srgbClr val="59595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42818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34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C57C497-C70B-06DC-CA0E-805962C12D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42554"/>
              </p:ext>
            </p:extLst>
          </p:nvPr>
        </p:nvGraphicFramePr>
        <p:xfrm>
          <a:off x="961534" y="886120"/>
          <a:ext cx="10218656" cy="51093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31996">
                  <a:extLst>
                    <a:ext uri="{9D8B030D-6E8A-4147-A177-3AD203B41FA5}">
                      <a16:colId xmlns:a16="http://schemas.microsoft.com/office/drawing/2014/main" val="3234284018"/>
                    </a:ext>
                  </a:extLst>
                </a:gridCol>
                <a:gridCol w="6386660">
                  <a:extLst>
                    <a:ext uri="{9D8B030D-6E8A-4147-A177-3AD203B41FA5}">
                      <a16:colId xmlns:a16="http://schemas.microsoft.com/office/drawing/2014/main" val="632699057"/>
                    </a:ext>
                  </a:extLst>
                </a:gridCol>
              </a:tblGrid>
              <a:tr h="503736"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FINAL COLUMN GLOSSARY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857784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Record_ID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Unique hourly record identifier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1018829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Date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Date of observation (YYYY-MM-DD)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95027721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Year / Month / Season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l-NL" sz="2000" u="none" strike="noStrike">
                          <a:effectLst/>
                        </a:rPr>
                        <a:t>Temporal labels (2011/2012, Jan–Dec, Spring–Winter)</a:t>
                      </a:r>
                      <a:endParaRPr lang="nl-NL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5589323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Hour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Hour of day (0–23)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59981389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Weekday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Day name (Sunday–Saturday)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11281956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Is_Holiday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Yes / No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13450219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Weather_Situation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Clear / Mist/Cloudy / Light Rain/Snow / Heavy Rain/Snow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69125459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Temp_Celsius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Actual temperature in °C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3403328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FeelsLike_Temp_C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Feels-like temperature in °C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71727564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Humidity_Pct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Relative humidity in %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91797761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Windspeed_kmh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Wind speed in km/h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8568017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Casual_Users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Non-registered bike rental users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0289601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Registered_Users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Registered bike rental users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1035503"/>
                  </a:ext>
                </a:extLst>
              </a:tr>
              <a:tr h="32897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Total_Users</a:t>
                      </a:r>
                      <a:endParaRPr lang="en-IN" sz="2000" b="1" i="0" u="none" strike="noStrike">
                        <a:solidFill>
                          <a:srgbClr val="1F4E79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Total rentals (Casual + Registered)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61628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4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5E80404-38A4-B643-541E-E3E8F1AF2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442662"/>
              </p:ext>
            </p:extLst>
          </p:nvPr>
        </p:nvGraphicFramePr>
        <p:xfrm>
          <a:off x="1753385" y="1131216"/>
          <a:ext cx="8738647" cy="45154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72677">
                  <a:extLst>
                    <a:ext uri="{9D8B030D-6E8A-4147-A177-3AD203B41FA5}">
                      <a16:colId xmlns:a16="http://schemas.microsoft.com/office/drawing/2014/main" val="3142598712"/>
                    </a:ext>
                  </a:extLst>
                </a:gridCol>
                <a:gridCol w="3665970">
                  <a:extLst>
                    <a:ext uri="{9D8B030D-6E8A-4147-A177-3AD203B41FA5}">
                      <a16:colId xmlns:a16="http://schemas.microsoft.com/office/drawing/2014/main" val="3326567002"/>
                    </a:ext>
                  </a:extLst>
                </a:gridCol>
              </a:tblGrid>
              <a:tr h="15051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 err="1">
                          <a:effectLst/>
                        </a:rPr>
                        <a:t>Peak_Hour</a:t>
                      </a:r>
                      <a:r>
                        <a:rPr lang="en-IN" sz="1100" u="none" strike="noStrike" dirty="0">
                          <a:effectLst/>
                        </a:rPr>
                        <a:t> (Peak/Off-Peak)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 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9565900"/>
                  </a:ext>
                </a:extLst>
              </a:tr>
              <a:tr h="15051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7 AM – 9 AM → Morning office/school rush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 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74548624"/>
                  </a:ext>
                </a:extLst>
              </a:tr>
              <a:tr h="15051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 PM – 7 PM → Evening office return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 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96647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3272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CBFD5-C086-F1AA-F329-9C7DC6868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6987B-2493-61CF-C23E-E8783C376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Set B (Merge Data Set A + Project 3)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F9C2C63-330F-D45C-3176-3C301FE7EF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2594978"/>
              </p:ext>
            </p:extLst>
          </p:nvPr>
        </p:nvGraphicFramePr>
        <p:xfrm>
          <a:off x="1621409" y="2790334"/>
          <a:ext cx="9360817" cy="308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1098">
                  <a:extLst>
                    <a:ext uri="{9D8B030D-6E8A-4147-A177-3AD203B41FA5}">
                      <a16:colId xmlns:a16="http://schemas.microsoft.com/office/drawing/2014/main" val="3567309984"/>
                    </a:ext>
                  </a:extLst>
                </a:gridCol>
                <a:gridCol w="5819719">
                  <a:extLst>
                    <a:ext uri="{9D8B030D-6E8A-4147-A177-3AD203B41FA5}">
                      <a16:colId xmlns:a16="http://schemas.microsoft.com/office/drawing/2014/main" val="1395318000"/>
                    </a:ext>
                  </a:extLst>
                </a:gridCol>
              </a:tblGrid>
              <a:tr h="38569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SOURCE FILES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552523"/>
                  </a:ext>
                </a:extLst>
              </a:tr>
              <a:tr h="385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File 1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Data_Set_A.xlsx  →  610 rows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60743810"/>
                  </a:ext>
                </a:extLst>
              </a:tr>
              <a:tr h="385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File 2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Project_3.xlsx   →  390 rows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05021323"/>
                  </a:ext>
                </a:extLst>
              </a:tr>
              <a:tr h="385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Merge Strategy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Vertical concat (no overlapping IDs)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564510883"/>
                  </a:ext>
                </a:extLst>
              </a:tr>
              <a:tr h="3856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16117612"/>
                  </a:ext>
                </a:extLst>
              </a:tr>
              <a:tr h="38569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SHAPE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702069"/>
                  </a:ext>
                </a:extLst>
              </a:tr>
              <a:tr h="385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After Merge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1,000 rows × 16 columns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76583534"/>
                  </a:ext>
                </a:extLst>
              </a:tr>
              <a:tr h="385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After Preprocessing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1,000 rows × 16 columns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05554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471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06BFF4-A589-3055-D51B-1B5BAE79F5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226417"/>
              </p:ext>
            </p:extLst>
          </p:nvPr>
        </p:nvGraphicFramePr>
        <p:xfrm>
          <a:off x="1206631" y="1018095"/>
          <a:ext cx="9690755" cy="466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5911">
                  <a:extLst>
                    <a:ext uri="{9D8B030D-6E8A-4147-A177-3AD203B41FA5}">
                      <a16:colId xmlns:a16="http://schemas.microsoft.com/office/drawing/2014/main" val="1575486208"/>
                    </a:ext>
                  </a:extLst>
                </a:gridCol>
                <a:gridCol w="6024844">
                  <a:extLst>
                    <a:ext uri="{9D8B030D-6E8A-4147-A177-3AD203B41FA5}">
                      <a16:colId xmlns:a16="http://schemas.microsoft.com/office/drawing/2014/main" val="3745858122"/>
                    </a:ext>
                  </a:extLst>
                </a:gridCol>
              </a:tblGrid>
              <a:tr h="583284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VALUES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283157"/>
                  </a:ext>
                </a:extLst>
              </a:tr>
              <a:tr h="5832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Before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81854399"/>
                  </a:ext>
                </a:extLst>
              </a:tr>
              <a:tr h="5832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Strategy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Median imputation (numeric), "No"/"Clear" (categorical)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07596887"/>
                  </a:ext>
                </a:extLst>
              </a:tr>
              <a:tr h="5832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Missing After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289366120"/>
                  </a:ext>
                </a:extLst>
              </a:tr>
              <a:tr h="5832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31232607"/>
                  </a:ext>
                </a:extLst>
              </a:tr>
              <a:tr h="583284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DUPLICATES</a:t>
                      </a:r>
                      <a:endParaRPr lang="en-IN" sz="2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966149"/>
                  </a:ext>
                </a:extLst>
              </a:tr>
              <a:tr h="5832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Duplicates Found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14679202"/>
                  </a:ext>
                </a:extLst>
              </a:tr>
              <a:tr h="58328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Duplicates Dropped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60733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8136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C60B9F-CF3E-4AC5-5413-80E5648ED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35252"/>
              </p:ext>
            </p:extLst>
          </p:nvPr>
        </p:nvGraphicFramePr>
        <p:xfrm>
          <a:off x="1187777" y="1018095"/>
          <a:ext cx="9935852" cy="49396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8628">
                  <a:extLst>
                    <a:ext uri="{9D8B030D-6E8A-4147-A177-3AD203B41FA5}">
                      <a16:colId xmlns:a16="http://schemas.microsoft.com/office/drawing/2014/main" val="2076482765"/>
                    </a:ext>
                  </a:extLst>
                </a:gridCol>
                <a:gridCol w="6177224">
                  <a:extLst>
                    <a:ext uri="{9D8B030D-6E8A-4147-A177-3AD203B41FA5}">
                      <a16:colId xmlns:a16="http://schemas.microsoft.com/office/drawing/2014/main" val="3613247457"/>
                    </a:ext>
                  </a:extLst>
                </a:gridCol>
              </a:tblGrid>
              <a:tr h="548849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STRING / CATEGORICAL FIXES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523243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Columns Cleaned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Month, Season, Weekday, Is_Holiday, Weather_Situation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276612125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Operations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strip whitespace, title-case, variant mapping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42288310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Weather Variants Unified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4 categories standardised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85459323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61530886"/>
                  </a:ext>
                </a:extLst>
              </a:tr>
              <a:tr h="548849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NUMERIC CONSISTENCY FIXES</a:t>
                      </a:r>
                      <a:endParaRPr lang="en-IN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4966427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Humidity_Pct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Clipped to valid range 0–100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18642083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User Counts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Negative values clipped to 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39426365"/>
                  </a:ext>
                </a:extLst>
              </a:tr>
              <a:tr h="54884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Total_Users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Recomputed as Casual + Registered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922124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387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B8D1C02-C186-BE28-7549-2986685A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359698"/>
              </p:ext>
            </p:extLst>
          </p:nvPr>
        </p:nvGraphicFramePr>
        <p:xfrm>
          <a:off x="1178351" y="1074656"/>
          <a:ext cx="9869863" cy="4835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3665">
                  <a:extLst>
                    <a:ext uri="{9D8B030D-6E8A-4147-A177-3AD203B41FA5}">
                      <a16:colId xmlns:a16="http://schemas.microsoft.com/office/drawing/2014/main" val="2275106118"/>
                    </a:ext>
                  </a:extLst>
                </a:gridCol>
                <a:gridCol w="6136198">
                  <a:extLst>
                    <a:ext uri="{9D8B030D-6E8A-4147-A177-3AD203B41FA5}">
                      <a16:colId xmlns:a16="http://schemas.microsoft.com/office/drawing/2014/main" val="1668335066"/>
                    </a:ext>
                  </a:extLst>
                </a:gridCol>
              </a:tblGrid>
              <a:tr h="1208988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NEW COLUMNS ADDED (from P3)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3142831"/>
                  </a:ext>
                </a:extLst>
              </a:tr>
              <a:tr h="12089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Year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 dirty="0">
                          <a:effectLst/>
                        </a:rPr>
                        <a:t>Extracted from Date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384882197"/>
                  </a:ext>
                </a:extLst>
              </a:tr>
              <a:tr h="12089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Season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Derived from Month (Spring/Summer/Autumn/Winter)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36265595"/>
                  </a:ext>
                </a:extLst>
              </a:tr>
              <a:tr h="12089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2000" u="none" strike="noStrike">
                          <a:effectLst/>
                        </a:rPr>
                        <a:t>Is_Holiday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Defaulted to "No" for P3 subset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2744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871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A64FB4-5A02-8995-3B1B-4B0CB680AA53}"/>
              </a:ext>
            </a:extLst>
          </p:cNvPr>
          <p:cNvSpPr txBox="1"/>
          <p:nvPr/>
        </p:nvSpPr>
        <p:spPr>
          <a:xfrm>
            <a:off x="3921551" y="2196445"/>
            <a:ext cx="56655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681740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92</TotalTime>
  <Words>1537</Words>
  <Application>Microsoft Office PowerPoint</Application>
  <PresentationFormat>Widescreen</PresentationFormat>
  <Paragraphs>296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Garamond</vt:lpstr>
      <vt:lpstr>Organic</vt:lpstr>
      <vt:lpstr>NextHikes IT Solutions  Bike Sharing Demand Analysis Project Using Excel</vt:lpstr>
      <vt:lpstr>Priyanka Singh</vt:lpstr>
      <vt:lpstr>Project 1 - Data Set 1 Preprocess Report</vt:lpstr>
      <vt:lpstr>PowerPoint Presentation</vt:lpstr>
      <vt:lpstr>PowerPoint Presentation</vt:lpstr>
      <vt:lpstr>Project 2 - Data Set 2 Preprocess Report</vt:lpstr>
      <vt:lpstr>PowerPoint Presentation</vt:lpstr>
      <vt:lpstr>PowerPoint Presentation</vt:lpstr>
      <vt:lpstr>Project 3 - Data Set 3 Preprocess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Set A (Merge Project 1+2)</vt:lpstr>
      <vt:lpstr>PowerPoint Presentation</vt:lpstr>
      <vt:lpstr>PowerPoint Presentation</vt:lpstr>
      <vt:lpstr>PowerPoint Presentation</vt:lpstr>
      <vt:lpstr>PowerPoint Presentation</vt:lpstr>
      <vt:lpstr>Data Set B (Merge Data Set A + Project 3)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Kaustav Tomar</dc:creator>
  <cp:lastModifiedBy>Priyanka Singh</cp:lastModifiedBy>
  <cp:revision>9</cp:revision>
  <dcterms:created xsi:type="dcterms:W3CDTF">2026-05-12T13:57:57Z</dcterms:created>
  <dcterms:modified xsi:type="dcterms:W3CDTF">2026-05-20T12:07:53Z</dcterms:modified>
</cp:coreProperties>
</file>