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80" r:id="rId3"/>
    <p:sldId id="257" r:id="rId4"/>
    <p:sldId id="264" r:id="rId5"/>
    <p:sldId id="279" r:id="rId6"/>
    <p:sldId id="259" r:id="rId7"/>
    <p:sldId id="260" r:id="rId8"/>
    <p:sldId id="262" r:id="rId9"/>
    <p:sldId id="263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6" r:id="rId21"/>
    <p:sldId id="275" r:id="rId22"/>
    <p:sldId id="277" r:id="rId23"/>
    <p:sldId id="278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05ACF8F8-F653-45A7-9848-A8ABB0CC2AAC}" type="datetimeFigureOut">
              <a:rPr lang="en-IN" smtClean="0"/>
              <a:t>13-05-2026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A1B4237A-EF21-45DD-AFC8-EC1C03AEFEAC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595854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CF8F8-F653-45A7-9848-A8ABB0CC2AAC}" type="datetimeFigureOut">
              <a:rPr lang="en-IN" smtClean="0"/>
              <a:t>13-05-2026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4237A-EF21-45DD-AFC8-EC1C03AEFE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69277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CF8F8-F653-45A7-9848-A8ABB0CC2AAC}" type="datetimeFigureOut">
              <a:rPr lang="en-IN" smtClean="0"/>
              <a:t>13-05-2026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4237A-EF21-45DD-AFC8-EC1C03AEFEAC}" type="slidenum">
              <a:rPr lang="en-IN" smtClean="0"/>
              <a:t>‹#›</a:t>
            </a:fld>
            <a:endParaRPr lang="en-IN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746935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CF8F8-F653-45A7-9848-A8ABB0CC2AAC}" type="datetimeFigureOut">
              <a:rPr lang="en-IN" smtClean="0"/>
              <a:t>13-05-2026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4237A-EF21-45DD-AFC8-EC1C03AEFE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93438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CF8F8-F653-45A7-9848-A8ABB0CC2AAC}" type="datetimeFigureOut">
              <a:rPr lang="en-IN" smtClean="0"/>
              <a:t>13-05-2026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4237A-EF21-45DD-AFC8-EC1C03AEFEAC}" type="slidenum">
              <a:rPr lang="en-IN" smtClean="0"/>
              <a:t>‹#›</a:t>
            </a:fld>
            <a:endParaRPr lang="en-IN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952277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CF8F8-F653-45A7-9848-A8ABB0CC2AAC}" type="datetimeFigureOut">
              <a:rPr lang="en-IN" smtClean="0"/>
              <a:t>13-05-2026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4237A-EF21-45DD-AFC8-EC1C03AEFEAC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580011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CF8F8-F653-45A7-9848-A8ABB0CC2AAC}" type="datetimeFigureOut">
              <a:rPr lang="en-IN" smtClean="0"/>
              <a:t>13-05-2026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4237A-EF21-45DD-AFC8-EC1C03AEFE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06400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CF8F8-F653-45A7-9848-A8ABB0CC2AAC}" type="datetimeFigureOut">
              <a:rPr lang="en-IN" smtClean="0"/>
              <a:t>13-05-2026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4237A-EF21-45DD-AFC8-EC1C03AEFEAC}" type="slidenum">
              <a:rPr lang="en-IN" smtClean="0"/>
              <a:t>‹#›</a:t>
            </a:fld>
            <a:endParaRPr lang="en-IN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71427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CF8F8-F653-45A7-9848-A8ABB0CC2AAC}" type="datetimeFigureOut">
              <a:rPr lang="en-IN" smtClean="0"/>
              <a:t>13-05-2026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4237A-EF21-45DD-AFC8-EC1C03AEFE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33367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CF8F8-F653-45A7-9848-A8ABB0CC2AAC}" type="datetimeFigureOut">
              <a:rPr lang="en-IN" smtClean="0"/>
              <a:t>13-05-2026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4237A-EF21-45DD-AFC8-EC1C03AEFE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66739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CF8F8-F653-45A7-9848-A8ABB0CC2AAC}" type="datetimeFigureOut">
              <a:rPr lang="en-IN" smtClean="0"/>
              <a:t>13-05-2026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4237A-EF21-45DD-AFC8-EC1C03AEFEAC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2290569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CF8F8-F653-45A7-9848-A8ABB0CC2AAC}" type="datetimeFigureOut">
              <a:rPr lang="en-IN" smtClean="0"/>
              <a:t>13-05-2026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4237A-EF21-45DD-AFC8-EC1C03AEFEAC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3110673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CF8F8-F653-45A7-9848-A8ABB0CC2AAC}" type="datetimeFigureOut">
              <a:rPr lang="en-IN" smtClean="0"/>
              <a:t>13-05-2026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4237A-EF21-45DD-AFC8-EC1C03AEFE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240701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CF8F8-F653-45A7-9848-A8ABB0CC2AAC}" type="datetimeFigureOut">
              <a:rPr lang="en-IN" smtClean="0"/>
              <a:t>13-05-2026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4237A-EF21-45DD-AFC8-EC1C03AEFEAC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5417482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CF8F8-F653-45A7-9848-A8ABB0CC2AAC}" type="datetimeFigureOut">
              <a:rPr lang="en-IN" smtClean="0"/>
              <a:t>13-05-2026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4237A-EF21-45DD-AFC8-EC1C03AEFEAC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8155387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CF8F8-F653-45A7-9848-A8ABB0CC2AAC}" type="datetimeFigureOut">
              <a:rPr lang="en-IN" smtClean="0"/>
              <a:t>13-05-2026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4237A-EF21-45DD-AFC8-EC1C03AEFEAC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8314119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CF8F8-F653-45A7-9848-A8ABB0CC2AAC}" type="datetimeFigureOut">
              <a:rPr lang="en-IN" smtClean="0"/>
              <a:t>13-05-2026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4237A-EF21-45DD-AFC8-EC1C03AEFEAC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70603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05ACF8F8-F653-45A7-9848-A8ABB0CC2AAC}" type="datetimeFigureOut">
              <a:rPr lang="en-IN" smtClean="0"/>
              <a:t>13-05-2026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A1B4237A-EF21-45DD-AFC8-EC1C03AEFE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70979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00EC57-5123-C7B1-126A-85D0ED7E567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3200" b="1" dirty="0" err="1">
                <a:solidFill>
                  <a:srgbClr val="002060"/>
                </a:solidFill>
              </a:rPr>
              <a:t>NextHikes</a:t>
            </a:r>
            <a:r>
              <a:rPr lang="en-US" sz="3200" b="1" dirty="0">
                <a:solidFill>
                  <a:srgbClr val="002060"/>
                </a:solidFill>
              </a:rPr>
              <a:t> IT Solutions </a:t>
            </a:r>
            <a:br>
              <a:rPr lang="en-US" sz="3200" b="1" dirty="0"/>
            </a:br>
            <a:r>
              <a:rPr lang="en-US" sz="2800" b="1" dirty="0"/>
              <a:t>Bike Sharing Demand Analysis Project Using Excel</a:t>
            </a:r>
            <a:endParaRPr lang="en-IN" sz="28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AE3496-3D98-D4A1-3354-CD548E1C1FA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Autofit/>
          </a:bodyPr>
          <a:lstStyle/>
          <a:p>
            <a:r>
              <a:rPr lang="en-IN" sz="2800" b="1" dirty="0">
                <a:solidFill>
                  <a:srgbClr val="0070C0"/>
                </a:solidFill>
              </a:rPr>
              <a:t>Preprocess Summary Report</a:t>
            </a:r>
          </a:p>
        </p:txBody>
      </p:sp>
    </p:spTree>
    <p:extLst>
      <p:ext uri="{BB962C8B-B14F-4D97-AF65-F5344CB8AC3E}">
        <p14:creationId xmlns:p14="http://schemas.microsoft.com/office/powerpoint/2010/main" val="12160198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39AE7F-2991-D9DB-DAB1-AA482F319A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F9705-E664-DD7F-9D30-56FC7293677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3200" b="1" dirty="0">
                <a:solidFill>
                  <a:srgbClr val="002060"/>
                </a:solidFill>
              </a:rPr>
              <a:t>Priyanka Singh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10490474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4F9941-86CA-365F-E54F-B3A80D5B55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Project 1 - Data Set 1 Preprocess Report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FA842791-ED0E-6D22-E58D-3F7BEC2AF50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99769528"/>
              </p:ext>
            </p:extLst>
          </p:nvPr>
        </p:nvGraphicFramePr>
        <p:xfrm>
          <a:off x="1442301" y="2562860"/>
          <a:ext cx="9360817" cy="331300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046970">
                  <a:extLst>
                    <a:ext uri="{9D8B030D-6E8A-4147-A177-3AD203B41FA5}">
                      <a16:colId xmlns:a16="http://schemas.microsoft.com/office/drawing/2014/main" val="64073366"/>
                    </a:ext>
                  </a:extLst>
                </a:gridCol>
                <a:gridCol w="5313847">
                  <a:extLst>
                    <a:ext uri="{9D8B030D-6E8A-4147-A177-3AD203B41FA5}">
                      <a16:colId xmlns:a16="http://schemas.microsoft.com/office/drawing/2014/main" val="1410569741"/>
                    </a:ext>
                  </a:extLst>
                </a:gridCol>
              </a:tblGrid>
              <a:tr h="414126">
                <a:tc gridSpan="2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Preprocessing Summary Report</a:t>
                      </a:r>
                      <a:endParaRPr lang="en-IN" sz="2000" b="1" i="0" u="none" strike="noStrike">
                        <a:solidFill>
                          <a:srgbClr val="1F4E7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7481684"/>
                  </a:ext>
                </a:extLst>
              </a:tr>
              <a:tr h="41412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704947396"/>
                  </a:ext>
                </a:extLst>
              </a:tr>
              <a:tr h="41412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000" u="none" strike="noStrike" dirty="0">
                          <a:effectLst/>
                        </a:rPr>
                        <a:t>Step</a:t>
                      </a:r>
                      <a:endParaRPr lang="en-IN" sz="2000" b="1" i="0" u="none" strike="noStrike" dirty="0">
                        <a:solidFill>
                          <a:srgbClr val="1F4E7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Detail</a:t>
                      </a:r>
                      <a:endParaRPr lang="en-IN" sz="2000" b="1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628657698"/>
                  </a:ext>
                </a:extLst>
              </a:tr>
              <a:tr h="41412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Original Shape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610 rows × 10 columns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80001690"/>
                  </a:ext>
                </a:extLst>
              </a:tr>
              <a:tr h="41412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After Preprocessing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610 rows × 11 columns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410271073"/>
                  </a:ext>
                </a:extLst>
              </a:tr>
              <a:tr h="41412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Duplicates Found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0 (None removed)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4118545837"/>
                  </a:ext>
                </a:extLst>
              </a:tr>
              <a:tr h="41412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Missing Values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0 in all columns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941512351"/>
                  </a:ext>
                </a:extLst>
              </a:tr>
              <a:tr h="41412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6081056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305987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7881293-19CB-BFB3-35B5-388533032D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6254944"/>
              </p:ext>
            </p:extLst>
          </p:nvPr>
        </p:nvGraphicFramePr>
        <p:xfrm>
          <a:off x="1295400" y="1093509"/>
          <a:ext cx="9360817" cy="458053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046970">
                  <a:extLst>
                    <a:ext uri="{9D8B030D-6E8A-4147-A177-3AD203B41FA5}">
                      <a16:colId xmlns:a16="http://schemas.microsoft.com/office/drawing/2014/main" val="1014633968"/>
                    </a:ext>
                  </a:extLst>
                </a:gridCol>
                <a:gridCol w="5313847">
                  <a:extLst>
                    <a:ext uri="{9D8B030D-6E8A-4147-A177-3AD203B41FA5}">
                      <a16:colId xmlns:a16="http://schemas.microsoft.com/office/drawing/2014/main" val="1442050269"/>
                    </a:ext>
                  </a:extLst>
                </a:gridCol>
              </a:tblGrid>
              <a:tr h="45917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000" u="none" strike="noStrike" dirty="0">
                          <a:effectLst/>
                        </a:rPr>
                        <a:t>Transformations Applied</a:t>
                      </a:r>
                      <a:endParaRPr lang="en-IN" sz="2000" b="1" i="0" u="none" strike="noStrike" dirty="0">
                        <a:solidFill>
                          <a:srgbClr val="1F4E7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571626777"/>
                  </a:ext>
                </a:extLst>
              </a:tr>
              <a:tr h="45917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000" u="none" strike="noStrike" dirty="0">
                          <a:effectLst/>
                        </a:rPr>
                        <a:t>season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000" u="none" strike="noStrike" dirty="0">
                          <a:effectLst/>
                        </a:rPr>
                        <a:t>1→Spring, 2→Summer, 3→Fall, 4→Winter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616550804"/>
                  </a:ext>
                </a:extLst>
              </a:tr>
              <a:tr h="45917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yr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000" u="none" strike="noStrike" dirty="0">
                          <a:effectLst/>
                        </a:rPr>
                        <a:t>0→2011, 1→2012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95693588"/>
                  </a:ext>
                </a:extLst>
              </a:tr>
              <a:tr h="90714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weathersit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000" u="none" strike="noStrike" dirty="0">
                          <a:effectLst/>
                        </a:rPr>
                        <a:t>1→Clear, 2→Mist/Cloudy, 3→Light Rain/Snow, 4→Heavy Rain/Snow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275779195"/>
                  </a:ext>
                </a:extLst>
              </a:tr>
              <a:tr h="45917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holiday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000" u="none" strike="noStrike" dirty="0">
                          <a:effectLst/>
                        </a:rPr>
                        <a:t>True/False → Yes/No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4179423704"/>
                  </a:ext>
                </a:extLst>
              </a:tr>
              <a:tr h="45917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weekday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000" u="none" strike="noStrike" dirty="0">
                          <a:effectLst/>
                        </a:rPr>
                        <a:t>0→Sunday … 6→Saturday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803044085"/>
                  </a:ext>
                </a:extLst>
              </a:tr>
              <a:tr h="45917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mnth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000" u="none" strike="noStrike" dirty="0">
                          <a:effectLst/>
                        </a:rPr>
                        <a:t>1→Jan … 12→Dec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772578660"/>
                  </a:ext>
                </a:extLst>
              </a:tr>
              <a:tr h="45917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temp_celsius (new col)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000" u="none" strike="noStrike" dirty="0" err="1">
                          <a:effectLst/>
                        </a:rPr>
                        <a:t>Temp_Normalized</a:t>
                      </a:r>
                      <a:r>
                        <a:rPr lang="en-IN" sz="2000" u="none" strike="noStrike" dirty="0">
                          <a:effectLst/>
                        </a:rPr>
                        <a:t> × 41 → Actual °C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482034344"/>
                  </a:ext>
                </a:extLst>
              </a:tr>
              <a:tr h="45917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dteday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000" u="none" strike="noStrike" dirty="0">
                          <a:effectLst/>
                        </a:rPr>
                        <a:t>Datetime → Date only (YYYY-MM-DD)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0824273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193133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943F84-A0BA-6A48-0030-C4DD97550A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3642A2B-6E11-AB83-1EC5-2168211E9060}"/>
              </a:ext>
            </a:extLst>
          </p:cNvPr>
          <p:cNvGraphicFramePr>
            <a:graphicFrameLocks noGrp="1"/>
          </p:cNvGraphicFramePr>
          <p:nvPr/>
        </p:nvGraphicFramePr>
        <p:xfrm>
          <a:off x="1295400" y="1093509"/>
          <a:ext cx="9360817" cy="458053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046970">
                  <a:extLst>
                    <a:ext uri="{9D8B030D-6E8A-4147-A177-3AD203B41FA5}">
                      <a16:colId xmlns:a16="http://schemas.microsoft.com/office/drawing/2014/main" val="1014633968"/>
                    </a:ext>
                  </a:extLst>
                </a:gridCol>
                <a:gridCol w="5313847">
                  <a:extLst>
                    <a:ext uri="{9D8B030D-6E8A-4147-A177-3AD203B41FA5}">
                      <a16:colId xmlns:a16="http://schemas.microsoft.com/office/drawing/2014/main" val="1442050269"/>
                    </a:ext>
                  </a:extLst>
                </a:gridCol>
              </a:tblGrid>
              <a:tr h="45917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000" u="none" strike="noStrike" dirty="0">
                          <a:effectLst/>
                        </a:rPr>
                        <a:t>Transformations Applied</a:t>
                      </a:r>
                      <a:endParaRPr lang="en-IN" sz="2000" b="1" i="0" u="none" strike="noStrike" dirty="0">
                        <a:solidFill>
                          <a:srgbClr val="1F4E7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571626777"/>
                  </a:ext>
                </a:extLst>
              </a:tr>
              <a:tr h="45917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000" u="none" strike="noStrike" dirty="0">
                          <a:effectLst/>
                        </a:rPr>
                        <a:t>season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000" u="none" strike="noStrike" dirty="0">
                          <a:effectLst/>
                        </a:rPr>
                        <a:t>1→Spring, 2→Summer, 3→Fall, 4→Winter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616550804"/>
                  </a:ext>
                </a:extLst>
              </a:tr>
              <a:tr h="45917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yr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000" u="none" strike="noStrike" dirty="0">
                          <a:effectLst/>
                        </a:rPr>
                        <a:t>0→2011, 1→2012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95693588"/>
                  </a:ext>
                </a:extLst>
              </a:tr>
              <a:tr h="90714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weathersit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000" u="none" strike="noStrike" dirty="0">
                          <a:effectLst/>
                        </a:rPr>
                        <a:t>1→Clear, 2→Mist/Cloudy, 3→Light Rain/Snow, 4→Heavy Rain/Snow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275779195"/>
                  </a:ext>
                </a:extLst>
              </a:tr>
              <a:tr h="45917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holiday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000" u="none" strike="noStrike" dirty="0">
                          <a:effectLst/>
                        </a:rPr>
                        <a:t>True/False → Yes/No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4179423704"/>
                  </a:ext>
                </a:extLst>
              </a:tr>
              <a:tr h="45917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weekday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000" u="none" strike="noStrike" dirty="0">
                          <a:effectLst/>
                        </a:rPr>
                        <a:t>0→Sunday … 6→Saturday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803044085"/>
                  </a:ext>
                </a:extLst>
              </a:tr>
              <a:tr h="45917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mnth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000" u="none" strike="noStrike" dirty="0">
                          <a:effectLst/>
                        </a:rPr>
                        <a:t>1→Jan … 12→Dec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772578660"/>
                  </a:ext>
                </a:extLst>
              </a:tr>
              <a:tr h="45917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temp_celsius (new col)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000" u="none" strike="noStrike" dirty="0" err="1">
                          <a:effectLst/>
                        </a:rPr>
                        <a:t>Temp_Normalized</a:t>
                      </a:r>
                      <a:r>
                        <a:rPr lang="en-IN" sz="2000" u="none" strike="noStrike" dirty="0">
                          <a:effectLst/>
                        </a:rPr>
                        <a:t> × 41 → Actual °C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482034344"/>
                  </a:ext>
                </a:extLst>
              </a:tr>
              <a:tr h="45917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dteday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000" u="none" strike="noStrike" dirty="0">
                          <a:effectLst/>
                        </a:rPr>
                        <a:t>Datetime → Date only (YYYY-MM-DD)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0824273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766802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896A77D-CBD5-3EA3-1F43-40E2C60E94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6179648"/>
              </p:ext>
            </p:extLst>
          </p:nvPr>
        </p:nvGraphicFramePr>
        <p:xfrm>
          <a:off x="1282045" y="1300899"/>
          <a:ext cx="9002598" cy="402524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893624">
                  <a:extLst>
                    <a:ext uri="{9D8B030D-6E8A-4147-A177-3AD203B41FA5}">
                      <a16:colId xmlns:a16="http://schemas.microsoft.com/office/drawing/2014/main" val="898537473"/>
                    </a:ext>
                  </a:extLst>
                </a:gridCol>
                <a:gridCol w="5108974">
                  <a:extLst>
                    <a:ext uri="{9D8B030D-6E8A-4147-A177-3AD203B41FA5}">
                      <a16:colId xmlns:a16="http://schemas.microsoft.com/office/drawing/2014/main" val="843514588"/>
                    </a:ext>
                  </a:extLst>
                </a:gridCol>
              </a:tblGrid>
              <a:tr h="62378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Column Renames</a:t>
                      </a:r>
                      <a:endParaRPr lang="en-IN" sz="2000" b="1" i="0" u="none" strike="noStrike">
                        <a:solidFill>
                          <a:srgbClr val="1F4E7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471677784"/>
                  </a:ext>
                </a:extLst>
              </a:tr>
              <a:tr h="62378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000" u="none" strike="noStrike" dirty="0">
                          <a:effectLst/>
                        </a:rPr>
                        <a:t>instant → </a:t>
                      </a:r>
                      <a:r>
                        <a:rPr lang="en-IN" sz="2000" u="none" strike="noStrike" dirty="0" err="1">
                          <a:effectLst/>
                        </a:rPr>
                        <a:t>Record_ID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dteday → Date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63139213"/>
                  </a:ext>
                </a:extLst>
              </a:tr>
              <a:tr h="62378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000" u="none" strike="noStrike" dirty="0">
                          <a:effectLst/>
                        </a:rPr>
                        <a:t>season → Season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yr → Year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371295096"/>
                  </a:ext>
                </a:extLst>
              </a:tr>
              <a:tr h="62378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000" u="none" strike="noStrike" dirty="0" err="1">
                          <a:effectLst/>
                        </a:rPr>
                        <a:t>mnth</a:t>
                      </a:r>
                      <a:r>
                        <a:rPr lang="en-IN" sz="2000" u="none" strike="noStrike" dirty="0">
                          <a:effectLst/>
                        </a:rPr>
                        <a:t> → Month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hr → Hour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599544819"/>
                  </a:ext>
                </a:extLst>
              </a:tr>
              <a:tr h="90632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holiday → Is_Holiday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weekday → Weekday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013369426"/>
                  </a:ext>
                </a:extLst>
              </a:tr>
              <a:tr h="62378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weathersit → Weather_Situation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000" u="none" strike="noStrike" dirty="0">
                          <a:effectLst/>
                        </a:rPr>
                        <a:t>temp → </a:t>
                      </a:r>
                      <a:r>
                        <a:rPr lang="en-IN" sz="2000" u="none" strike="noStrike" dirty="0" err="1">
                          <a:effectLst/>
                        </a:rPr>
                        <a:t>Temp_Normalized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976179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190854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C73E83-9E9E-7CBA-1528-162C4D6DD3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92DDA7-A4FB-DD36-06EE-A941E216BC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Project 2 - Data Set 2 Preprocess Report</a:t>
            </a:r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83883159-60BB-5CD6-0562-D05FF53A94B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09489572"/>
              </p:ext>
            </p:extLst>
          </p:nvPr>
        </p:nvGraphicFramePr>
        <p:xfrm>
          <a:off x="1295402" y="2648931"/>
          <a:ext cx="9460582" cy="34313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153034">
                  <a:extLst>
                    <a:ext uri="{9D8B030D-6E8A-4147-A177-3AD203B41FA5}">
                      <a16:colId xmlns:a16="http://schemas.microsoft.com/office/drawing/2014/main" val="188132289"/>
                    </a:ext>
                  </a:extLst>
                </a:gridCol>
                <a:gridCol w="5307548">
                  <a:extLst>
                    <a:ext uri="{9D8B030D-6E8A-4147-A177-3AD203B41FA5}">
                      <a16:colId xmlns:a16="http://schemas.microsoft.com/office/drawing/2014/main" val="4269866845"/>
                    </a:ext>
                  </a:extLst>
                </a:gridCol>
              </a:tblGrid>
              <a:tr h="343136">
                <a:tc gridSpan="2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OVERVIEW</a:t>
                      </a:r>
                      <a:endParaRPr lang="en-IN" sz="2000" b="1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2998390"/>
                  </a:ext>
                </a:extLst>
              </a:tr>
              <a:tr h="3431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Original Shape</a:t>
                      </a:r>
                      <a:endParaRPr lang="en-IN" sz="2000" b="1" i="0" u="none" strike="noStrike">
                        <a:solidFill>
                          <a:srgbClr val="1F4E7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610 rows × 15 columns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640965024"/>
                  </a:ext>
                </a:extLst>
              </a:tr>
              <a:tr h="3431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0" u="none" strike="noStrike" dirty="0">
                          <a:effectLst/>
                        </a:rPr>
                        <a:t>Final Shape</a:t>
                      </a:r>
                      <a:endParaRPr lang="en-IN" sz="2000" b="1" i="0" u="none" strike="noStrike" dirty="0">
                        <a:solidFill>
                          <a:srgbClr val="1F4E7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0" u="none" strike="noStrike" dirty="0">
                          <a:effectLst/>
                        </a:rPr>
                        <a:t>610 rows × 10 columns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613059641"/>
                  </a:ext>
                </a:extLst>
              </a:tr>
              <a:tr h="3431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629334110"/>
                  </a:ext>
                </a:extLst>
              </a:tr>
              <a:tr h="343136">
                <a:tc gridSpan="2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STEP 1 — Junk Column Removal</a:t>
                      </a:r>
                      <a:endParaRPr lang="en-US" sz="2000" b="1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8018114"/>
                  </a:ext>
                </a:extLst>
              </a:tr>
              <a:tr h="3431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Columns Removed</a:t>
                      </a:r>
                      <a:endParaRPr lang="en-IN" sz="2000" b="1" i="0" u="none" strike="noStrike">
                        <a:solidFill>
                          <a:srgbClr val="1F4E7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0" u="none" strike="noStrike" dirty="0">
                          <a:effectLst/>
                        </a:rPr>
                        <a:t>8 unwanted columns dropped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531586581"/>
                  </a:ext>
                </a:extLst>
              </a:tr>
              <a:tr h="3431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'Unnamed: 0'</a:t>
                      </a:r>
                      <a:endParaRPr lang="en-IN" sz="2000" b="0" i="1" u="none" strike="noStrike">
                        <a:solidFill>
                          <a:srgbClr val="59595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0" u="none" strike="noStrike" dirty="0">
                          <a:effectLst/>
                        </a:rPr>
                        <a:t>Redundant row index copy</a:t>
                      </a:r>
                      <a:endParaRPr lang="en-IN" sz="2000" b="0" i="0" u="none" strike="noStrike" dirty="0">
                        <a:solidFill>
                          <a:srgbClr val="59595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354380934"/>
                  </a:ext>
                </a:extLst>
              </a:tr>
              <a:tr h="3431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'Unnamed: 8/12'</a:t>
                      </a:r>
                      <a:endParaRPr lang="en-IN" sz="2000" b="0" i="1" u="none" strike="noStrike">
                        <a:solidFill>
                          <a:srgbClr val="59595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Completely empty columns (610/610 NaN)</a:t>
                      </a:r>
                      <a:endParaRPr lang="en-US" sz="2000" b="0" i="0" u="none" strike="noStrike">
                        <a:solidFill>
                          <a:srgbClr val="59595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846710153"/>
                  </a:ext>
                </a:extLst>
              </a:tr>
              <a:tr h="3431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'Mean','Mode','Median'</a:t>
                      </a:r>
                      <a:endParaRPr lang="en-IN" sz="2000" b="0" i="1" u="none" strike="noStrike">
                        <a:solidFill>
                          <a:srgbClr val="59595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Completely empty columns (610/610 NaN)</a:t>
                      </a:r>
                      <a:endParaRPr lang="en-US" sz="2000" b="0" i="0" u="none" strike="noStrike">
                        <a:solidFill>
                          <a:srgbClr val="59595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419168330"/>
                  </a:ext>
                </a:extLst>
              </a:tr>
              <a:tr h="3431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'0.2879' + 'Unnamed: 14'</a:t>
                      </a:r>
                      <a:endParaRPr lang="en-IN" sz="2000" b="0" i="1" u="none" strike="noStrike">
                        <a:solidFill>
                          <a:srgbClr val="59595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 dirty="0">
                          <a:effectLst/>
                        </a:rPr>
                        <a:t>Stats sidebar accidentally embedded in sheet</a:t>
                      </a:r>
                      <a:endParaRPr lang="en-US" sz="2000" b="0" i="0" u="none" strike="noStrike" dirty="0">
                        <a:solidFill>
                          <a:srgbClr val="59595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6542637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250701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D553D27-DD23-96B9-3521-ACCBAE1B0C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9358352"/>
              </p:ext>
            </p:extLst>
          </p:nvPr>
        </p:nvGraphicFramePr>
        <p:xfrm>
          <a:off x="1168923" y="1074656"/>
          <a:ext cx="9700181" cy="483595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258214">
                  <a:extLst>
                    <a:ext uri="{9D8B030D-6E8A-4147-A177-3AD203B41FA5}">
                      <a16:colId xmlns:a16="http://schemas.microsoft.com/office/drawing/2014/main" val="190943816"/>
                    </a:ext>
                  </a:extLst>
                </a:gridCol>
                <a:gridCol w="5441967">
                  <a:extLst>
                    <a:ext uri="{9D8B030D-6E8A-4147-A177-3AD203B41FA5}">
                      <a16:colId xmlns:a16="http://schemas.microsoft.com/office/drawing/2014/main" val="3887415897"/>
                    </a:ext>
                  </a:extLst>
                </a:gridCol>
              </a:tblGrid>
              <a:tr h="537328">
                <a:tc gridSpan="2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STEP 2 — Duplicate Removal</a:t>
                      </a:r>
                      <a:endParaRPr lang="en-IN" sz="2000" b="1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5955051"/>
                  </a:ext>
                </a:extLst>
              </a:tr>
              <a:tr h="53732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Duplicates Found &amp; Dropped</a:t>
                      </a:r>
                      <a:endParaRPr lang="en-IN" sz="2000" b="1" i="0" u="none" strike="noStrike">
                        <a:solidFill>
                          <a:srgbClr val="1F4E7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0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912068058"/>
                  </a:ext>
                </a:extLst>
              </a:tr>
              <a:tr h="53732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131445777"/>
                  </a:ext>
                </a:extLst>
              </a:tr>
              <a:tr h="537328">
                <a:tc gridSpan="2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STEP 3 — Missing Value Treatment</a:t>
                      </a:r>
                      <a:endParaRPr lang="en-US" sz="2000" b="1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5887950"/>
                  </a:ext>
                </a:extLst>
              </a:tr>
              <a:tr h="53732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'atemp' column</a:t>
                      </a:r>
                      <a:endParaRPr lang="en-IN" sz="2000" b="1" i="0" u="none" strike="noStrike">
                        <a:solidFill>
                          <a:srgbClr val="1F4E7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 dirty="0">
                          <a:effectLst/>
                        </a:rPr>
                        <a:t>11 nulls filled with median = 0.197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781644041"/>
                  </a:ext>
                </a:extLst>
              </a:tr>
              <a:tr h="53732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Strategy</a:t>
                      </a:r>
                      <a:endParaRPr lang="en-IN" sz="2000" b="0" i="1" u="none" strike="noStrike">
                        <a:solidFill>
                          <a:srgbClr val="59595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Median imputation (robust to skew/outliers)</a:t>
                      </a:r>
                      <a:endParaRPr lang="en-US" sz="2000" b="0" i="0" u="none" strike="noStrike">
                        <a:solidFill>
                          <a:srgbClr val="59595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339656867"/>
                  </a:ext>
                </a:extLst>
              </a:tr>
              <a:tr h="53732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694441252"/>
                  </a:ext>
                </a:extLst>
              </a:tr>
              <a:tr h="537328">
                <a:tc gridSpan="2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STEP 4 — Numeric Inconsistency Fix</a:t>
                      </a:r>
                      <a:endParaRPr lang="en-US" sz="2000" b="1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905273"/>
                  </a:ext>
                </a:extLst>
              </a:tr>
              <a:tr h="53732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'hum' = 1.0 (100% humidity)</a:t>
                      </a:r>
                      <a:endParaRPr lang="en-IN" sz="2000" b="1" i="0" u="none" strike="noStrike">
                        <a:solidFill>
                          <a:srgbClr val="1F4E7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 dirty="0">
                          <a:effectLst/>
                        </a:rPr>
                        <a:t>1 row(s) capped to 0.99 (sensor anomaly)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878591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607350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E695BD1-6E26-2DE3-BD17-8C9FD139A5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1806781"/>
              </p:ext>
            </p:extLst>
          </p:nvPr>
        </p:nvGraphicFramePr>
        <p:xfrm>
          <a:off x="1046375" y="1027521"/>
          <a:ext cx="9860437" cy="496793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328564">
                  <a:extLst>
                    <a:ext uri="{9D8B030D-6E8A-4147-A177-3AD203B41FA5}">
                      <a16:colId xmlns:a16="http://schemas.microsoft.com/office/drawing/2014/main" val="3692073473"/>
                    </a:ext>
                  </a:extLst>
                </a:gridCol>
                <a:gridCol w="5531873">
                  <a:extLst>
                    <a:ext uri="{9D8B030D-6E8A-4147-A177-3AD203B41FA5}">
                      <a16:colId xmlns:a16="http://schemas.microsoft.com/office/drawing/2014/main" val="3738413995"/>
                    </a:ext>
                  </a:extLst>
                </a:gridCol>
              </a:tblGrid>
              <a:tr h="496793">
                <a:tc gridSpan="2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STEP 5 — Denormalization (New Columns)</a:t>
                      </a:r>
                      <a:endParaRPr lang="en-US" sz="2000" b="1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4370167"/>
                  </a:ext>
                </a:extLst>
              </a:tr>
              <a:tr h="49679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'atemp_celsius'</a:t>
                      </a:r>
                      <a:endParaRPr lang="en-IN" sz="2000" b="1" i="0" u="none" strike="noStrike">
                        <a:solidFill>
                          <a:srgbClr val="1F4E7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Feels_Like_Temp_Norm × 50 → °C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248188000"/>
                  </a:ext>
                </a:extLst>
              </a:tr>
              <a:tr h="49679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0" u="none" strike="noStrike" dirty="0">
                          <a:effectLst/>
                        </a:rPr>
                        <a:t>'</a:t>
                      </a:r>
                      <a:r>
                        <a:rPr lang="en-IN" sz="2000" u="none" strike="noStrike" dirty="0" err="1">
                          <a:effectLst/>
                        </a:rPr>
                        <a:t>humidity_pct</a:t>
                      </a:r>
                      <a:r>
                        <a:rPr lang="en-IN" sz="2000" u="none" strike="noStrike" dirty="0">
                          <a:effectLst/>
                        </a:rPr>
                        <a:t>'</a:t>
                      </a:r>
                      <a:endParaRPr lang="en-IN" sz="2000" b="1" i="0" u="none" strike="noStrike" dirty="0">
                        <a:solidFill>
                          <a:srgbClr val="1F4E7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Humidity_Norm × 100 → %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4031089402"/>
                  </a:ext>
                </a:extLst>
              </a:tr>
              <a:tr h="49679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'windspeed_kmh'</a:t>
                      </a:r>
                      <a:endParaRPr lang="en-IN" sz="2000" b="1" i="0" u="none" strike="noStrike">
                        <a:solidFill>
                          <a:srgbClr val="1F4E7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nl-NL" sz="2000" u="none" strike="noStrike">
                          <a:effectLst/>
                        </a:rPr>
                        <a:t>Windspeed_Norm × 67 → km/h</a:t>
                      </a:r>
                      <a:endParaRPr lang="nl-NL" sz="2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107910588"/>
                  </a:ext>
                </a:extLst>
              </a:tr>
              <a:tr h="49679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4142102353"/>
                  </a:ext>
                </a:extLst>
              </a:tr>
              <a:tr h="496793">
                <a:tc gridSpan="2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STEP 6 — Column Renames</a:t>
                      </a:r>
                      <a:endParaRPr lang="en-IN" sz="2000" b="1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3937828"/>
                  </a:ext>
                </a:extLst>
              </a:tr>
              <a:tr h="49679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instant → Record_ID</a:t>
                      </a:r>
                      <a:endParaRPr lang="en-IN" sz="2000" b="1" i="0" u="none" strike="noStrike">
                        <a:solidFill>
                          <a:srgbClr val="1F4E7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atemp → Feels_Like_Temp_Norm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513401157"/>
                  </a:ext>
                </a:extLst>
              </a:tr>
              <a:tr h="49679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hum → Humidity_Norm</a:t>
                      </a:r>
                      <a:endParaRPr lang="en-IN" sz="2000" b="1" i="0" u="none" strike="noStrike">
                        <a:solidFill>
                          <a:srgbClr val="1F4E7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windspeed → Windspeed_Norm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4283802511"/>
                  </a:ext>
                </a:extLst>
              </a:tr>
              <a:tr h="49679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casual → Casual_Users</a:t>
                      </a:r>
                      <a:endParaRPr lang="en-IN" sz="2000" b="1" i="0" u="none" strike="noStrike">
                        <a:solidFill>
                          <a:srgbClr val="1F4E7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registered → Registered_Users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344570323"/>
                  </a:ext>
                </a:extLst>
              </a:tr>
              <a:tr h="49679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cnt → Total_Users</a:t>
                      </a:r>
                      <a:endParaRPr lang="en-IN" sz="2000" b="1" i="0" u="none" strike="noStrike">
                        <a:solidFill>
                          <a:srgbClr val="1F4E7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0" u="none" strike="noStrike" dirty="0">
                          <a:effectLst/>
                        </a:rPr>
                        <a:t> 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1956442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783204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2F7369-654E-B368-DB2F-50FE727902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45A789-1EE7-6013-843E-226ED96660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Project 3 - Data Set 3 Preprocess Report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87D84AF8-6F47-46F7-0C6E-DEAB20DC000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11335123"/>
              </p:ext>
            </p:extLst>
          </p:nvPr>
        </p:nvGraphicFramePr>
        <p:xfrm>
          <a:off x="1432874" y="2724345"/>
          <a:ext cx="9370244" cy="303543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62609">
                  <a:extLst>
                    <a:ext uri="{9D8B030D-6E8A-4147-A177-3AD203B41FA5}">
                      <a16:colId xmlns:a16="http://schemas.microsoft.com/office/drawing/2014/main" val="2408159289"/>
                    </a:ext>
                  </a:extLst>
                </a:gridCol>
                <a:gridCol w="5907635">
                  <a:extLst>
                    <a:ext uri="{9D8B030D-6E8A-4147-A177-3AD203B41FA5}">
                      <a16:colId xmlns:a16="http://schemas.microsoft.com/office/drawing/2014/main" val="2701252557"/>
                    </a:ext>
                  </a:extLst>
                </a:gridCol>
              </a:tblGrid>
              <a:tr h="512884">
                <a:tc gridSpan="2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DATASET OVERVIEW</a:t>
                      </a:r>
                      <a:endParaRPr lang="en-IN" sz="2000" b="1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0951263"/>
                  </a:ext>
                </a:extLst>
              </a:tr>
              <a:tr h="33494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0" u="none" strike="noStrike" dirty="0">
                          <a:effectLst/>
                        </a:rPr>
                        <a:t>Original Shape</a:t>
                      </a:r>
                      <a:endParaRPr lang="en-IN" sz="2000" b="1" i="0" u="none" strike="noStrike" dirty="0">
                        <a:solidFill>
                          <a:srgbClr val="1F4E7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390 rows × 16 columns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934307408"/>
                  </a:ext>
                </a:extLst>
              </a:tr>
              <a:tr h="33494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Final Shape</a:t>
                      </a:r>
                      <a:endParaRPr lang="en-IN" sz="2000" b="1" i="0" u="none" strike="noStrike">
                        <a:solidFill>
                          <a:srgbClr val="1F4E7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390 rows × 17 columns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573974038"/>
                  </a:ext>
                </a:extLst>
              </a:tr>
              <a:tr h="33494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Date Range</a:t>
                      </a:r>
                      <a:endParaRPr lang="en-IN" sz="2000" b="1" i="0" u="none" strike="noStrike">
                        <a:solidFill>
                          <a:srgbClr val="1F4E7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2011-01-28  to  2011-02-14 (18 days)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43666466"/>
                  </a:ext>
                </a:extLst>
              </a:tr>
              <a:tr h="33494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Record_ID Range</a:t>
                      </a:r>
                      <a:endParaRPr lang="en-IN" sz="2000" b="1" i="0" u="none" strike="noStrike">
                        <a:solidFill>
                          <a:srgbClr val="1F4E7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611 – 1000  (continuation of datasets 1 &amp; 2)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366775678"/>
                  </a:ext>
                </a:extLst>
              </a:tr>
              <a:tr h="33494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003699186"/>
                  </a:ext>
                </a:extLst>
              </a:tr>
              <a:tr h="512884">
                <a:tc gridSpan="2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STEP 1 — Duplicate Removal</a:t>
                      </a:r>
                      <a:endParaRPr lang="en-IN" sz="2000" b="1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2158914"/>
                  </a:ext>
                </a:extLst>
              </a:tr>
              <a:tr h="33494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Duplicates Found &amp; Dropped</a:t>
                      </a:r>
                      <a:endParaRPr lang="en-IN" sz="2000" b="1" i="0" u="none" strike="noStrike">
                        <a:solidFill>
                          <a:srgbClr val="1F4E7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0" u="none" strike="noStrike" dirty="0">
                          <a:effectLst/>
                        </a:rPr>
                        <a:t>0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7301172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524946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F6D8E2C-6777-9FC9-52B9-7B9BF25FA6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5311640"/>
              </p:ext>
            </p:extLst>
          </p:nvPr>
        </p:nvGraphicFramePr>
        <p:xfrm>
          <a:off x="961534" y="914400"/>
          <a:ext cx="10218656" cy="511875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776125">
                  <a:extLst>
                    <a:ext uri="{9D8B030D-6E8A-4147-A177-3AD203B41FA5}">
                      <a16:colId xmlns:a16="http://schemas.microsoft.com/office/drawing/2014/main" val="3342471860"/>
                    </a:ext>
                  </a:extLst>
                </a:gridCol>
                <a:gridCol w="6442531">
                  <a:extLst>
                    <a:ext uri="{9D8B030D-6E8A-4147-A177-3AD203B41FA5}">
                      <a16:colId xmlns:a16="http://schemas.microsoft.com/office/drawing/2014/main" val="2870988723"/>
                    </a:ext>
                  </a:extLst>
                </a:gridCol>
              </a:tblGrid>
              <a:tr h="972167">
                <a:tc gridSpan="2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STEP 2 — Missing Values</a:t>
                      </a:r>
                      <a:endParaRPr lang="en-IN" sz="2000" b="1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7454145"/>
                  </a:ext>
                </a:extLst>
              </a:tr>
              <a:tr h="63488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Missing Values Found</a:t>
                      </a:r>
                      <a:endParaRPr lang="en-IN" sz="2000" b="1" i="0" u="none" strike="noStrike">
                        <a:solidFill>
                          <a:srgbClr val="1F4E7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0" u="none" strike="noStrike" dirty="0">
                          <a:effectLst/>
                        </a:rPr>
                        <a:t>0  (dataset structurally complete)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788205292"/>
                  </a:ext>
                </a:extLst>
              </a:tr>
              <a:tr h="63488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747965130"/>
                  </a:ext>
                </a:extLst>
              </a:tr>
              <a:tr h="972167">
                <a:tc gridSpan="2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STEP 3 — Zero-Variance Column Drop</a:t>
                      </a:r>
                      <a:endParaRPr lang="en-IN" sz="2000" b="1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9754392"/>
                  </a:ext>
                </a:extLst>
              </a:tr>
              <a:tr h="63488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'season' dropped</a:t>
                      </a:r>
                      <a:endParaRPr lang="en-IN" sz="2000" b="1" i="0" u="none" strike="noStrike">
                        <a:solidFill>
                          <a:srgbClr val="1F4E7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All 390 rows = 1 (Spring only) — no analytical value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979015959"/>
                  </a:ext>
                </a:extLst>
              </a:tr>
              <a:tr h="63488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'yr' dropped</a:t>
                      </a:r>
                      <a:endParaRPr lang="en-IN" sz="2000" b="1" i="0" u="none" strike="noStrike">
                        <a:solidFill>
                          <a:srgbClr val="1F4E7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All 390 rows = 0 (year 2011 only) — no analytical value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900928775"/>
                  </a:ext>
                </a:extLst>
              </a:tr>
              <a:tr h="63488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'holiday' dropped</a:t>
                      </a:r>
                      <a:endParaRPr lang="en-IN" sz="2000" b="1" i="0" u="none" strike="noStrike">
                        <a:solidFill>
                          <a:srgbClr val="1F4E7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 dirty="0">
                          <a:effectLst/>
                        </a:rPr>
                        <a:t>All 390 rows = False — no variation in this slice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1242505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534337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7130A24-C536-9106-DD13-9B24B85DF4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988278"/>
              </p:ext>
            </p:extLst>
          </p:nvPr>
        </p:nvGraphicFramePr>
        <p:xfrm>
          <a:off x="980387" y="848411"/>
          <a:ext cx="10077253" cy="519630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723873">
                  <a:extLst>
                    <a:ext uri="{9D8B030D-6E8A-4147-A177-3AD203B41FA5}">
                      <a16:colId xmlns:a16="http://schemas.microsoft.com/office/drawing/2014/main" val="315820652"/>
                    </a:ext>
                  </a:extLst>
                </a:gridCol>
                <a:gridCol w="6353380">
                  <a:extLst>
                    <a:ext uri="{9D8B030D-6E8A-4147-A177-3AD203B41FA5}">
                      <a16:colId xmlns:a16="http://schemas.microsoft.com/office/drawing/2014/main" val="714330231"/>
                    </a:ext>
                  </a:extLst>
                </a:gridCol>
              </a:tblGrid>
              <a:tr h="869671">
                <a:tc gridSpan="2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STEP 4 — Humidity Anomaly Fix</a:t>
                      </a:r>
                      <a:endParaRPr lang="en-US" sz="2000" b="1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3157142"/>
                  </a:ext>
                </a:extLst>
              </a:tr>
              <a:tr h="56794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hum = 1.0 rows found</a:t>
                      </a:r>
                      <a:endParaRPr lang="en-IN" sz="2000" b="1" i="0" u="none" strike="noStrike">
                        <a:solidFill>
                          <a:srgbClr val="1F4E7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15 rows across 4 dates (sensor saturation)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903986784"/>
                  </a:ext>
                </a:extLst>
              </a:tr>
              <a:tr h="56794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Fix Strategy</a:t>
                      </a:r>
                      <a:endParaRPr lang="en-IN" sz="2000" b="0" i="1" u="none" strike="noStrike">
                        <a:solidFill>
                          <a:srgbClr val="59595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 dirty="0">
                          <a:effectLst/>
                        </a:rPr>
                        <a:t>Each anomalous value → daily median of valid (non-1.0) hum for that date</a:t>
                      </a:r>
                      <a:endParaRPr lang="en-US" sz="2000" b="0" i="0" u="none" strike="noStrike" dirty="0">
                        <a:solidFill>
                          <a:srgbClr val="59595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4125531450"/>
                  </a:ext>
                </a:extLst>
              </a:tr>
              <a:tr h="56794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Anomaly Details</a:t>
                      </a:r>
                      <a:endParaRPr lang="en-IN" sz="2000" b="0" i="1" u="none" strike="noStrike">
                        <a:solidFill>
                          <a:srgbClr val="59595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See 'Anomaly Log' sheet for full record-level breakdown</a:t>
                      </a:r>
                      <a:endParaRPr lang="en-US" sz="2000" b="0" i="0" u="none" strike="noStrike">
                        <a:solidFill>
                          <a:srgbClr val="59595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583775475"/>
                  </a:ext>
                </a:extLst>
              </a:tr>
              <a:tr h="56794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491832473"/>
                  </a:ext>
                </a:extLst>
              </a:tr>
              <a:tr h="869671">
                <a:tc gridSpan="2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STEP 5 — Valid Edge Cases (Retained)</a:t>
                      </a:r>
                      <a:endParaRPr lang="en-US" sz="2000" b="1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8056309"/>
                  </a:ext>
                </a:extLst>
              </a:tr>
              <a:tr h="56794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windspeed = 0</a:t>
                      </a:r>
                      <a:endParaRPr lang="en-IN" sz="2000" b="1" i="0" u="none" strike="noStrike">
                        <a:solidFill>
                          <a:srgbClr val="1F4E7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75 rows retained — calm-wind hours are valid observations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14578262"/>
                  </a:ext>
                </a:extLst>
              </a:tr>
              <a:tr h="56794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Missing hours per day</a:t>
                      </a:r>
                      <a:endParaRPr lang="en-IN" sz="2000" b="1" i="0" u="none" strike="noStrike">
                        <a:solidFill>
                          <a:srgbClr val="1F4E7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 dirty="0">
                          <a:effectLst/>
                        </a:rPr>
                        <a:t>Partial-day recordings retained as-is (reflect actual sensor gaps)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5863766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82987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3B10481-0A14-F850-397F-42EAC11DD9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5385118"/>
              </p:ext>
            </p:extLst>
          </p:nvPr>
        </p:nvGraphicFramePr>
        <p:xfrm>
          <a:off x="886119" y="961533"/>
          <a:ext cx="10171521" cy="517036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758707">
                  <a:extLst>
                    <a:ext uri="{9D8B030D-6E8A-4147-A177-3AD203B41FA5}">
                      <a16:colId xmlns:a16="http://schemas.microsoft.com/office/drawing/2014/main" val="3791676570"/>
                    </a:ext>
                  </a:extLst>
                </a:gridCol>
                <a:gridCol w="6412814">
                  <a:extLst>
                    <a:ext uri="{9D8B030D-6E8A-4147-A177-3AD203B41FA5}">
                      <a16:colId xmlns:a16="http://schemas.microsoft.com/office/drawing/2014/main" val="2688464587"/>
                    </a:ext>
                  </a:extLst>
                </a:gridCol>
              </a:tblGrid>
              <a:tr h="692869">
                <a:tc gridSpan="2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STEP 6 — Categorical Decoding</a:t>
                      </a:r>
                      <a:endParaRPr lang="en-IN" sz="2000" b="1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5489301"/>
                  </a:ext>
                </a:extLst>
              </a:tr>
              <a:tr h="45248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mnth</a:t>
                      </a:r>
                      <a:endParaRPr lang="en-IN" sz="2000" b="1" i="0" u="none" strike="noStrike">
                        <a:solidFill>
                          <a:srgbClr val="1F4E7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1–12  →  Jan – Dec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079200846"/>
                  </a:ext>
                </a:extLst>
              </a:tr>
              <a:tr h="45248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weathersit</a:t>
                      </a:r>
                      <a:endParaRPr lang="en-IN" sz="2000" b="1" i="0" u="none" strike="noStrike">
                        <a:solidFill>
                          <a:srgbClr val="1F4E7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1→Clear,  2→Mist/Cloudy,  3→Light Rain/Snow,  4→Heavy Rain/Snow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73950296"/>
                  </a:ext>
                </a:extLst>
              </a:tr>
              <a:tr h="45248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weekday</a:t>
                      </a:r>
                      <a:endParaRPr lang="en-IN" sz="2000" b="1" i="0" u="none" strike="noStrike">
                        <a:solidFill>
                          <a:srgbClr val="1F4E7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0→Sunday … 6→Saturday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655865185"/>
                  </a:ext>
                </a:extLst>
              </a:tr>
              <a:tr h="45248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213312307"/>
                  </a:ext>
                </a:extLst>
              </a:tr>
              <a:tr h="692869">
                <a:tc gridSpan="2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000" u="none" strike="noStrike" dirty="0">
                          <a:effectLst/>
                        </a:rPr>
                        <a:t>STEP 7 — Denormalization (4 New Columns)</a:t>
                      </a:r>
                      <a:endParaRPr lang="en-US" sz="200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5948698"/>
                  </a:ext>
                </a:extLst>
              </a:tr>
              <a:tr h="45248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temp_celsius</a:t>
                      </a:r>
                      <a:endParaRPr lang="en-IN" sz="2000" b="1" i="0" u="none" strike="noStrike">
                        <a:solidFill>
                          <a:srgbClr val="1F4E7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Temp_Norm × 41  →  Actual temperature °C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921208798"/>
                  </a:ext>
                </a:extLst>
              </a:tr>
              <a:tr h="45248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atemp_celsius</a:t>
                      </a:r>
                      <a:endParaRPr lang="en-IN" sz="2000" b="1" i="0" u="none" strike="noStrike">
                        <a:solidFill>
                          <a:srgbClr val="1F4E7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FeelsLike_Norm × 50  →  Feels-like temperature °C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495326945"/>
                  </a:ext>
                </a:extLst>
              </a:tr>
              <a:tr h="45248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humidity_pct</a:t>
                      </a:r>
                      <a:endParaRPr lang="en-IN" sz="2000" b="1" i="0" u="none" strike="noStrike">
                        <a:solidFill>
                          <a:srgbClr val="1F4E7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Humidity_Norm × 100  →  Relative humidity %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708477334"/>
                  </a:ext>
                </a:extLst>
              </a:tr>
              <a:tr h="45248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windspeed_kmh</a:t>
                      </a:r>
                      <a:endParaRPr lang="en-IN" sz="2000" b="1" i="0" u="none" strike="noStrike">
                        <a:solidFill>
                          <a:srgbClr val="1F4E7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nl-NL" sz="2000" u="none" strike="noStrike" dirty="0">
                          <a:effectLst/>
                        </a:rPr>
                        <a:t>Windspeed_Norm × 67  →  Wind speed km/h</a:t>
                      </a:r>
                      <a:endParaRPr lang="nl-NL" sz="2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7846214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703719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9733DDF-2559-899B-455F-92BEE8E0AB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4161391"/>
              </p:ext>
            </p:extLst>
          </p:nvPr>
        </p:nvGraphicFramePr>
        <p:xfrm>
          <a:off x="1055802" y="1008668"/>
          <a:ext cx="10105534" cy="492079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734323">
                  <a:extLst>
                    <a:ext uri="{9D8B030D-6E8A-4147-A177-3AD203B41FA5}">
                      <a16:colId xmlns:a16="http://schemas.microsoft.com/office/drawing/2014/main" val="196237589"/>
                    </a:ext>
                  </a:extLst>
                </a:gridCol>
                <a:gridCol w="6371211">
                  <a:extLst>
                    <a:ext uri="{9D8B030D-6E8A-4147-A177-3AD203B41FA5}">
                      <a16:colId xmlns:a16="http://schemas.microsoft.com/office/drawing/2014/main" val="3248644515"/>
                    </a:ext>
                  </a:extLst>
                </a:gridCol>
              </a:tblGrid>
              <a:tr h="883220">
                <a:tc gridSpan="2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STEP 8 — Column Renames &amp; Reorder</a:t>
                      </a:r>
                      <a:endParaRPr lang="en-US" sz="2000" b="1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2979442"/>
                  </a:ext>
                </a:extLst>
              </a:tr>
              <a:tr h="57679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instant → Record_ID</a:t>
                      </a:r>
                      <a:endParaRPr lang="en-IN" sz="2000" b="1" i="0" u="none" strike="noStrike">
                        <a:solidFill>
                          <a:srgbClr val="1F4E7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dteday → Date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595612739"/>
                  </a:ext>
                </a:extLst>
              </a:tr>
              <a:tr h="57679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mnth → Month</a:t>
                      </a:r>
                      <a:endParaRPr lang="en-IN" sz="2000" b="1" i="0" u="none" strike="noStrike">
                        <a:solidFill>
                          <a:srgbClr val="1F4E7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hr → Hour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753833634"/>
                  </a:ext>
                </a:extLst>
              </a:tr>
              <a:tr h="57679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weekday → Weekday</a:t>
                      </a:r>
                      <a:endParaRPr lang="en-IN" sz="2000" b="1" i="0" u="none" strike="noStrike">
                        <a:solidFill>
                          <a:srgbClr val="1F4E7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0" u="none" strike="noStrike" dirty="0" err="1">
                          <a:effectLst/>
                        </a:rPr>
                        <a:t>weathersit</a:t>
                      </a:r>
                      <a:r>
                        <a:rPr lang="en-IN" sz="2000" u="none" strike="noStrike" dirty="0">
                          <a:effectLst/>
                        </a:rPr>
                        <a:t> → </a:t>
                      </a:r>
                      <a:r>
                        <a:rPr lang="en-IN" sz="2000" u="none" strike="noStrike" dirty="0" err="1">
                          <a:effectLst/>
                        </a:rPr>
                        <a:t>Weather_Situation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330873877"/>
                  </a:ext>
                </a:extLst>
              </a:tr>
              <a:tr h="57679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temp → Temp_Norm</a:t>
                      </a:r>
                      <a:endParaRPr lang="en-IN" sz="2000" b="1" i="0" u="none" strike="noStrike">
                        <a:solidFill>
                          <a:srgbClr val="1F4E7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atemp → FeelsLike_Norm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114700565"/>
                  </a:ext>
                </a:extLst>
              </a:tr>
              <a:tr h="57679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hum → Humidity_Norm</a:t>
                      </a:r>
                      <a:endParaRPr lang="en-IN" sz="2000" b="1" i="0" u="none" strike="noStrike">
                        <a:solidFill>
                          <a:srgbClr val="1F4E7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windspeed → Windspeed_Norm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87193016"/>
                  </a:ext>
                </a:extLst>
              </a:tr>
              <a:tr h="57679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casual → Casual_Users</a:t>
                      </a:r>
                      <a:endParaRPr lang="en-IN" sz="2000" b="1" i="0" u="none" strike="noStrike">
                        <a:solidFill>
                          <a:srgbClr val="1F4E7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registered → Registered_Users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794738669"/>
                  </a:ext>
                </a:extLst>
              </a:tr>
              <a:tr h="57679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cnt → Total_Users</a:t>
                      </a:r>
                      <a:endParaRPr lang="en-IN" sz="2000" b="1" i="0" u="none" strike="noStrike">
                        <a:solidFill>
                          <a:srgbClr val="1F4E7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0" u="none" strike="noStrike" dirty="0">
                          <a:effectLst/>
                        </a:rPr>
                        <a:t> 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6560869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031818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2C69EE3-442F-4DCE-88F4-CE4EF4E895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8365014"/>
              </p:ext>
            </p:extLst>
          </p:nvPr>
        </p:nvGraphicFramePr>
        <p:xfrm>
          <a:off x="961533" y="933255"/>
          <a:ext cx="10209229" cy="500485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772642">
                  <a:extLst>
                    <a:ext uri="{9D8B030D-6E8A-4147-A177-3AD203B41FA5}">
                      <a16:colId xmlns:a16="http://schemas.microsoft.com/office/drawing/2014/main" val="2522854622"/>
                    </a:ext>
                  </a:extLst>
                </a:gridCol>
                <a:gridCol w="6436587">
                  <a:extLst>
                    <a:ext uri="{9D8B030D-6E8A-4147-A177-3AD203B41FA5}">
                      <a16:colId xmlns:a16="http://schemas.microsoft.com/office/drawing/2014/main" val="1703349423"/>
                    </a:ext>
                  </a:extLst>
                </a:gridCol>
              </a:tblGrid>
              <a:tr h="787523">
                <a:tc gridSpan="2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COLUMN GLOSSARY</a:t>
                      </a:r>
                      <a:endParaRPr lang="en-IN" sz="2000" b="1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0450619"/>
                  </a:ext>
                </a:extLst>
              </a:tr>
              <a:tr h="51430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Record_ID</a:t>
                      </a:r>
                      <a:endParaRPr lang="en-IN" sz="2000" b="1" i="0" u="none" strike="noStrike">
                        <a:solidFill>
                          <a:srgbClr val="1F4E7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Unique hourly record (611–1000, continuation of datasets 1 &amp; 2)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410745966"/>
                  </a:ext>
                </a:extLst>
              </a:tr>
              <a:tr h="51430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0" u="none" strike="noStrike" dirty="0">
                          <a:effectLst/>
                        </a:rPr>
                        <a:t>Date</a:t>
                      </a:r>
                      <a:endParaRPr lang="en-IN" sz="2000" b="1" i="0" u="none" strike="noStrike" dirty="0">
                        <a:solidFill>
                          <a:srgbClr val="1F4E7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Observation date (YYYY-MM-DD)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138416903"/>
                  </a:ext>
                </a:extLst>
              </a:tr>
              <a:tr h="51430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Month / Hour / Weekday</a:t>
                      </a:r>
                      <a:endParaRPr lang="en-IN" sz="2000" b="1" i="0" u="none" strike="noStrike">
                        <a:solidFill>
                          <a:srgbClr val="1F4E7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Temporal labels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478222731"/>
                  </a:ext>
                </a:extLst>
              </a:tr>
              <a:tr h="51430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Weather_Situation</a:t>
                      </a:r>
                      <a:endParaRPr lang="en-IN" sz="2000" b="1" i="0" u="none" strike="noStrike">
                        <a:solidFill>
                          <a:srgbClr val="1F4E7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Clear / Mist/Cloudy / Light Rain/Snow / Heavy Rain/Snow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4290368068"/>
                  </a:ext>
                </a:extLst>
              </a:tr>
              <a:tr h="51430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Temp_Norm / FeelsLike_Norm</a:t>
                      </a:r>
                      <a:endParaRPr lang="en-IN" sz="2000" b="1" i="0" u="none" strike="noStrike">
                        <a:solidFill>
                          <a:srgbClr val="1F4E7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Normalized values (0–1 scale)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652713714"/>
                  </a:ext>
                </a:extLst>
              </a:tr>
              <a:tr h="51430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temp_celsius / atemp_celsius</a:t>
                      </a:r>
                      <a:endParaRPr lang="en-IN" sz="2000" b="1" i="0" u="none" strike="noStrike">
                        <a:solidFill>
                          <a:srgbClr val="1F4E7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Human-readable temperature in °C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838923403"/>
                  </a:ext>
                </a:extLst>
              </a:tr>
              <a:tr h="51430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humidity_pct / windspeed_kmh</a:t>
                      </a:r>
                      <a:endParaRPr lang="en-IN" sz="2000" b="1" i="0" u="none" strike="noStrike">
                        <a:solidFill>
                          <a:srgbClr val="1F4E7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Humidity % and Wind speed km/h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805843474"/>
                  </a:ext>
                </a:extLst>
              </a:tr>
              <a:tr h="51430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Casual / Registered / Total_Users</a:t>
                      </a:r>
                      <a:endParaRPr lang="en-IN" sz="2000" b="1" i="0" u="none" strike="noStrike">
                        <a:solidFill>
                          <a:srgbClr val="1F4E7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 dirty="0">
                          <a:effectLst/>
                        </a:rPr>
                        <a:t>Bike rental user counts per hour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6081174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777075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627696-74B6-818C-0B19-A685095536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1E77A0-9100-3C52-D887-339659FBB7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 Set A (Merge Project 1+2)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8FB860C3-E98F-C523-1AA5-6B4AC7E9AFD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83938486"/>
              </p:ext>
            </p:extLst>
          </p:nvPr>
        </p:nvGraphicFramePr>
        <p:xfrm>
          <a:off x="1470581" y="2705493"/>
          <a:ext cx="9285403" cy="312798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82026">
                  <a:extLst>
                    <a:ext uri="{9D8B030D-6E8A-4147-A177-3AD203B41FA5}">
                      <a16:colId xmlns:a16="http://schemas.microsoft.com/office/drawing/2014/main" val="2715962093"/>
                    </a:ext>
                  </a:extLst>
                </a:gridCol>
                <a:gridCol w="5803377">
                  <a:extLst>
                    <a:ext uri="{9D8B030D-6E8A-4147-A177-3AD203B41FA5}">
                      <a16:colId xmlns:a16="http://schemas.microsoft.com/office/drawing/2014/main" val="2051753949"/>
                    </a:ext>
                  </a:extLst>
                </a:gridCol>
              </a:tblGrid>
              <a:tr h="470521">
                <a:tc gridSpan="2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MERGE DETAILS</a:t>
                      </a:r>
                      <a:endParaRPr lang="en-IN" sz="2000" b="1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5756580"/>
                  </a:ext>
                </a:extLst>
              </a:tr>
              <a:tr h="30727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Merge Key</a:t>
                      </a:r>
                      <a:endParaRPr lang="en-IN" sz="2000" b="1" i="0" u="none" strike="noStrike">
                        <a:solidFill>
                          <a:srgbClr val="1F4E7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Record_ID (inner join)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757765660"/>
                  </a:ext>
                </a:extLst>
              </a:tr>
              <a:tr h="30727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Dataset 1 Shape</a:t>
                      </a:r>
                      <a:endParaRPr lang="en-IN" sz="2000" b="1" i="0" u="none" strike="noStrike">
                        <a:solidFill>
                          <a:srgbClr val="1F4E7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610 rows × 11 columns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739467626"/>
                  </a:ext>
                </a:extLst>
              </a:tr>
              <a:tr h="30727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Dataset 2 Shape</a:t>
                      </a:r>
                      <a:endParaRPr lang="en-IN" sz="2000" b="1" i="0" u="none" strike="noStrike">
                        <a:solidFill>
                          <a:srgbClr val="1F4E7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 dirty="0">
                          <a:effectLst/>
                        </a:rPr>
                        <a:t>610 rows × 10 columns (2 header rows fixed)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131220772"/>
                  </a:ext>
                </a:extLst>
              </a:tr>
              <a:tr h="30727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After Merge</a:t>
                      </a:r>
                      <a:endParaRPr lang="en-IN" sz="2000" b="1" i="0" u="none" strike="noStrike">
                        <a:solidFill>
                          <a:srgbClr val="1F4E7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610 rows × 20 columns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584188948"/>
                  </a:ext>
                </a:extLst>
              </a:tr>
              <a:tr h="30727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Final Shape</a:t>
                      </a:r>
                      <a:endParaRPr lang="en-IN" sz="2000" b="1" i="0" u="none" strike="noStrike">
                        <a:solidFill>
                          <a:srgbClr val="1F4E7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610 rows × 16 columns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931160470"/>
                  </a:ext>
                </a:extLst>
              </a:tr>
              <a:tr h="30727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392726488"/>
                  </a:ext>
                </a:extLst>
              </a:tr>
              <a:tr h="470521">
                <a:tc gridSpan="2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STEP 1 — Duplicate Removal</a:t>
                      </a:r>
                      <a:endParaRPr lang="en-IN" sz="2000" b="1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8340970"/>
                  </a:ext>
                </a:extLst>
              </a:tr>
              <a:tr h="30727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Duplicates Found</a:t>
                      </a:r>
                      <a:endParaRPr lang="en-IN" sz="2000" b="1" i="0" u="none" strike="noStrike">
                        <a:solidFill>
                          <a:srgbClr val="1F4E7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0" u="none" strike="noStrike" dirty="0">
                          <a:effectLst/>
                        </a:rPr>
                        <a:t>0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9667776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477138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71D6765-5C54-9DF2-7DA6-1E349195D7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7683105"/>
              </p:ext>
            </p:extLst>
          </p:nvPr>
        </p:nvGraphicFramePr>
        <p:xfrm>
          <a:off x="1131216" y="857838"/>
          <a:ext cx="10048974" cy="514703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768365">
                  <a:extLst>
                    <a:ext uri="{9D8B030D-6E8A-4147-A177-3AD203B41FA5}">
                      <a16:colId xmlns:a16="http://schemas.microsoft.com/office/drawing/2014/main" val="1254365498"/>
                    </a:ext>
                  </a:extLst>
                </a:gridCol>
                <a:gridCol w="6280609">
                  <a:extLst>
                    <a:ext uri="{9D8B030D-6E8A-4147-A177-3AD203B41FA5}">
                      <a16:colId xmlns:a16="http://schemas.microsoft.com/office/drawing/2014/main" val="3812814661"/>
                    </a:ext>
                  </a:extLst>
                </a:gridCol>
              </a:tblGrid>
              <a:tr h="712443">
                <a:tc gridSpan="2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STEP 2 — Missing Value Treatment</a:t>
                      </a:r>
                      <a:endParaRPr lang="en-US" sz="2000" b="1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710775"/>
                  </a:ext>
                </a:extLst>
              </a:tr>
              <a:tr h="46526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Missing Values Found</a:t>
                      </a:r>
                      <a:endParaRPr lang="en-IN" sz="2000" b="1" i="0" u="none" strike="noStrike">
                        <a:solidFill>
                          <a:srgbClr val="1F4E7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0 (none after merge)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378656301"/>
                  </a:ext>
                </a:extLst>
              </a:tr>
              <a:tr h="46526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0" u="none" strike="noStrike" dirty="0">
                          <a:effectLst/>
                        </a:rPr>
                        <a:t>Strategy</a:t>
                      </a:r>
                      <a:endParaRPr lang="en-IN" sz="2000" b="0" i="1" u="none" strike="noStrike" dirty="0">
                        <a:solidFill>
                          <a:srgbClr val="59595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Median imputation for numeric columns</a:t>
                      </a:r>
                      <a:endParaRPr lang="en-US" sz="2000" b="0" i="0" u="none" strike="noStrike">
                        <a:solidFill>
                          <a:srgbClr val="59595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069143775"/>
                  </a:ext>
                </a:extLst>
              </a:tr>
              <a:tr h="46526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071781148"/>
                  </a:ext>
                </a:extLst>
              </a:tr>
              <a:tr h="712443">
                <a:tc gridSpan="2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STEP 3 — Redundant Column Removal</a:t>
                      </a:r>
                      <a:endParaRPr lang="en-US" sz="2000" b="1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6932675"/>
                  </a:ext>
                </a:extLst>
              </a:tr>
              <a:tr h="46526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'Temp_Normalized'</a:t>
                      </a:r>
                      <a:endParaRPr lang="en-IN" sz="2000" b="1" i="0" u="none" strike="noStrike">
                        <a:solidFill>
                          <a:srgbClr val="1F4E7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Kept Temp_Celsius (human-readable °C)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911551631"/>
                  </a:ext>
                </a:extLst>
              </a:tr>
              <a:tr h="46526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'Feels_Like_Temp_Norm'</a:t>
                      </a:r>
                      <a:endParaRPr lang="en-IN" sz="2000" b="1" i="0" u="none" strike="noStrike">
                        <a:solidFill>
                          <a:srgbClr val="1F4E7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Kept atemp_celsius → renamed FeelsLike_Temp_C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397328353"/>
                  </a:ext>
                </a:extLst>
              </a:tr>
              <a:tr h="46526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'Humidity_Norm'</a:t>
                      </a:r>
                      <a:endParaRPr lang="en-IN" sz="2000" b="1" i="0" u="none" strike="noStrike">
                        <a:solidFill>
                          <a:srgbClr val="1F4E7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Kept Humidity_Pct (% form is clearer)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674633939"/>
                  </a:ext>
                </a:extLst>
              </a:tr>
              <a:tr h="46526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'Windspeed_Norm'</a:t>
                      </a:r>
                      <a:endParaRPr lang="en-IN" sz="2000" b="1" i="0" u="none" strike="noStrike">
                        <a:solidFill>
                          <a:srgbClr val="1F4E7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Kept windspeed after recomputing km/h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261710848"/>
                  </a:ext>
                </a:extLst>
              </a:tr>
              <a:tr h="46526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'windspeed_kmh' (old)</a:t>
                      </a:r>
                      <a:endParaRPr lang="en-IN" sz="2000" b="1" i="0" u="none" strike="noStrike">
                        <a:solidFill>
                          <a:srgbClr val="1F4E7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 dirty="0">
                          <a:effectLst/>
                        </a:rPr>
                        <a:t>Dropped — had integer truncation error; recomputed as float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1028087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7138348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AF1F4351-C1C0-BC6C-A6B3-3DAA14CDA7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9049749"/>
              </p:ext>
            </p:extLst>
          </p:nvPr>
        </p:nvGraphicFramePr>
        <p:xfrm>
          <a:off x="980388" y="857839"/>
          <a:ext cx="10180948" cy="522146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817856">
                  <a:extLst>
                    <a:ext uri="{9D8B030D-6E8A-4147-A177-3AD203B41FA5}">
                      <a16:colId xmlns:a16="http://schemas.microsoft.com/office/drawing/2014/main" val="3320217669"/>
                    </a:ext>
                  </a:extLst>
                </a:gridCol>
                <a:gridCol w="6363092">
                  <a:extLst>
                    <a:ext uri="{9D8B030D-6E8A-4147-A177-3AD203B41FA5}">
                      <a16:colId xmlns:a16="http://schemas.microsoft.com/office/drawing/2014/main" val="903498926"/>
                    </a:ext>
                  </a:extLst>
                </a:gridCol>
              </a:tblGrid>
              <a:tr h="874450">
                <a:tc gridSpan="2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STEP 4 — Numeric Fix</a:t>
                      </a:r>
                      <a:endParaRPr lang="en-IN" sz="2000" b="1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3888657"/>
                  </a:ext>
                </a:extLst>
              </a:tr>
              <a:tr h="57106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Windspeed_kmh</a:t>
                      </a:r>
                      <a:endParaRPr lang="en-IN" sz="2000" b="1" i="0" u="none" strike="noStrike">
                        <a:solidFill>
                          <a:srgbClr val="1F4E7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Recomputed: Windspeed_Norm × 67 → float (was int-truncated)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362631613"/>
                  </a:ext>
                </a:extLst>
              </a:tr>
              <a:tr h="57106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Date column</a:t>
                      </a:r>
                      <a:endParaRPr lang="en-IN" sz="2000" b="1" i="0" u="none" strike="noStrike">
                        <a:solidFill>
                          <a:srgbClr val="1F4E7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Datetime stripped to Date only (YYYY-MM-DD)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61276284"/>
                  </a:ext>
                </a:extLst>
              </a:tr>
              <a:tr h="57106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650675649"/>
                  </a:ext>
                </a:extLst>
              </a:tr>
              <a:tr h="874450">
                <a:tc gridSpan="2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STEP 5 — Column Reordering &amp; Rename</a:t>
                      </a:r>
                      <a:endParaRPr lang="en-US" sz="2000" b="1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7274619"/>
                  </a:ext>
                </a:extLst>
              </a:tr>
              <a:tr h="57106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Final Column Order</a:t>
                      </a:r>
                      <a:endParaRPr lang="en-IN" sz="2000" b="1" i="0" u="none" strike="noStrike">
                        <a:solidFill>
                          <a:srgbClr val="1F4E7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ID → Date/Time → Day Info → Weather → Climate → Users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903065283"/>
                  </a:ext>
                </a:extLst>
              </a:tr>
              <a:tr h="57106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atemp_celsius</a:t>
                      </a:r>
                      <a:endParaRPr lang="en-IN" sz="2000" b="0" i="1" u="none" strike="noStrike">
                        <a:solidFill>
                          <a:srgbClr val="59595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→ FeelsLike_Temp_C</a:t>
                      </a:r>
                      <a:endParaRPr lang="en-IN" sz="2000" b="0" i="0" u="none" strike="noStrike">
                        <a:solidFill>
                          <a:srgbClr val="59595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694557842"/>
                  </a:ext>
                </a:extLst>
              </a:tr>
              <a:tr h="57106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humidity_pct</a:t>
                      </a:r>
                      <a:endParaRPr lang="en-IN" sz="2000" b="0" i="1" u="none" strike="noStrike">
                        <a:solidFill>
                          <a:srgbClr val="59595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0" u="none" strike="noStrike" dirty="0">
                          <a:effectLst/>
                        </a:rPr>
                        <a:t>→ </a:t>
                      </a:r>
                      <a:r>
                        <a:rPr lang="en-IN" sz="2000" u="none" strike="noStrike" dirty="0" err="1">
                          <a:effectLst/>
                        </a:rPr>
                        <a:t>Humidity_Pct</a:t>
                      </a:r>
                      <a:endParaRPr lang="en-IN" sz="2000" b="0" i="0" u="none" strike="noStrike" dirty="0">
                        <a:solidFill>
                          <a:srgbClr val="59595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9428182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9413419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C57C497-C70B-06DC-CA0E-805962C12D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9442554"/>
              </p:ext>
            </p:extLst>
          </p:nvPr>
        </p:nvGraphicFramePr>
        <p:xfrm>
          <a:off x="961534" y="886120"/>
          <a:ext cx="10218656" cy="510933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831996">
                  <a:extLst>
                    <a:ext uri="{9D8B030D-6E8A-4147-A177-3AD203B41FA5}">
                      <a16:colId xmlns:a16="http://schemas.microsoft.com/office/drawing/2014/main" val="3234284018"/>
                    </a:ext>
                  </a:extLst>
                </a:gridCol>
                <a:gridCol w="6386660">
                  <a:extLst>
                    <a:ext uri="{9D8B030D-6E8A-4147-A177-3AD203B41FA5}">
                      <a16:colId xmlns:a16="http://schemas.microsoft.com/office/drawing/2014/main" val="632699057"/>
                    </a:ext>
                  </a:extLst>
                </a:gridCol>
              </a:tblGrid>
              <a:tr h="503736">
                <a:tc gridSpan="2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FINAL COLUMN GLOSSARY</a:t>
                      </a:r>
                      <a:endParaRPr lang="en-IN" sz="2000" b="1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2857784"/>
                  </a:ext>
                </a:extLst>
              </a:tr>
              <a:tr h="32897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Record_ID</a:t>
                      </a:r>
                      <a:endParaRPr lang="en-IN" sz="2000" b="1" i="0" u="none" strike="noStrike">
                        <a:solidFill>
                          <a:srgbClr val="1F4E7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Unique hourly record identifier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931018829"/>
                  </a:ext>
                </a:extLst>
              </a:tr>
              <a:tr h="32897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Date</a:t>
                      </a:r>
                      <a:endParaRPr lang="en-IN" sz="2000" b="1" i="0" u="none" strike="noStrike">
                        <a:solidFill>
                          <a:srgbClr val="1F4E7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Date of observation (YYYY-MM-DD)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995027721"/>
                  </a:ext>
                </a:extLst>
              </a:tr>
              <a:tr h="32897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Year / Month / Season</a:t>
                      </a:r>
                      <a:endParaRPr lang="en-IN" sz="2000" b="1" i="0" u="none" strike="noStrike">
                        <a:solidFill>
                          <a:srgbClr val="1F4E7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nl-NL" sz="2000" u="none" strike="noStrike">
                          <a:effectLst/>
                        </a:rPr>
                        <a:t>Temporal labels (2011/2012, Jan–Dec, Spring–Winter)</a:t>
                      </a:r>
                      <a:endParaRPr lang="nl-NL" sz="2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085589323"/>
                  </a:ext>
                </a:extLst>
              </a:tr>
              <a:tr h="32897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Hour</a:t>
                      </a:r>
                      <a:endParaRPr lang="en-IN" sz="2000" b="1" i="0" u="none" strike="noStrike">
                        <a:solidFill>
                          <a:srgbClr val="1F4E7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Hour of day (0–23)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959981389"/>
                  </a:ext>
                </a:extLst>
              </a:tr>
              <a:tr h="32897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Weekday</a:t>
                      </a:r>
                      <a:endParaRPr lang="en-IN" sz="2000" b="1" i="0" u="none" strike="noStrike">
                        <a:solidFill>
                          <a:srgbClr val="1F4E7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Day name (Sunday–Saturday)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511281956"/>
                  </a:ext>
                </a:extLst>
              </a:tr>
              <a:tr h="32897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Is_Holiday</a:t>
                      </a:r>
                      <a:endParaRPr lang="en-IN" sz="2000" b="1" i="0" u="none" strike="noStrike">
                        <a:solidFill>
                          <a:srgbClr val="1F4E7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Yes / No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513450219"/>
                  </a:ext>
                </a:extLst>
              </a:tr>
              <a:tr h="32897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Weather_Situation</a:t>
                      </a:r>
                      <a:endParaRPr lang="en-IN" sz="2000" b="1" i="0" u="none" strike="noStrike">
                        <a:solidFill>
                          <a:srgbClr val="1F4E7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 dirty="0">
                          <a:effectLst/>
                        </a:rPr>
                        <a:t>Clear / Mist/Cloudy / Light Rain/Snow / Heavy Rain/Snow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569125459"/>
                  </a:ext>
                </a:extLst>
              </a:tr>
              <a:tr h="32897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Temp_Celsius</a:t>
                      </a:r>
                      <a:endParaRPr lang="en-IN" sz="2000" b="1" i="0" u="none" strike="noStrike">
                        <a:solidFill>
                          <a:srgbClr val="1F4E7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Actual temperature in °C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713403328"/>
                  </a:ext>
                </a:extLst>
              </a:tr>
              <a:tr h="32897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FeelsLike_Temp_C</a:t>
                      </a:r>
                      <a:endParaRPr lang="en-IN" sz="2000" b="1" i="0" u="none" strike="noStrike">
                        <a:solidFill>
                          <a:srgbClr val="1F4E7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Feels-like temperature in °C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571727564"/>
                  </a:ext>
                </a:extLst>
              </a:tr>
              <a:tr h="32897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Humidity_Pct</a:t>
                      </a:r>
                      <a:endParaRPr lang="en-IN" sz="2000" b="1" i="0" u="none" strike="noStrike">
                        <a:solidFill>
                          <a:srgbClr val="1F4E7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Relative humidity in %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091797761"/>
                  </a:ext>
                </a:extLst>
              </a:tr>
              <a:tr h="32897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Windspeed_kmh</a:t>
                      </a:r>
                      <a:endParaRPr lang="en-IN" sz="2000" b="1" i="0" u="none" strike="noStrike">
                        <a:solidFill>
                          <a:srgbClr val="1F4E7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Wind speed in km/h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68568017"/>
                  </a:ext>
                </a:extLst>
              </a:tr>
              <a:tr h="32897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Casual_Users</a:t>
                      </a:r>
                      <a:endParaRPr lang="en-IN" sz="2000" b="1" i="0" u="none" strike="noStrike">
                        <a:solidFill>
                          <a:srgbClr val="1F4E7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Non-registered bike rental users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420289601"/>
                  </a:ext>
                </a:extLst>
              </a:tr>
              <a:tr h="32897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Registered_Users</a:t>
                      </a:r>
                      <a:endParaRPr lang="en-IN" sz="2000" b="1" i="0" u="none" strike="noStrike">
                        <a:solidFill>
                          <a:srgbClr val="1F4E7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Registered bike rental users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401035503"/>
                  </a:ext>
                </a:extLst>
              </a:tr>
              <a:tr h="32897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Total_Users</a:t>
                      </a:r>
                      <a:endParaRPr lang="en-IN" sz="2000" b="1" i="0" u="none" strike="noStrike">
                        <a:solidFill>
                          <a:srgbClr val="1F4E7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0" u="none" strike="noStrike" dirty="0">
                          <a:effectLst/>
                        </a:rPr>
                        <a:t>Total rentals (Casual + Registered)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1616280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32456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4CBFD5-C086-F1AA-F329-9C7DC6868A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86987B-2493-61CF-C23E-E8783C376B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 Set B (Merge Data Set A + Project 3)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2F9C2C63-330F-D45C-3176-3C301FE7EF3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32594978"/>
              </p:ext>
            </p:extLst>
          </p:nvPr>
        </p:nvGraphicFramePr>
        <p:xfrm>
          <a:off x="1621409" y="2790334"/>
          <a:ext cx="9360817" cy="308553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541098">
                  <a:extLst>
                    <a:ext uri="{9D8B030D-6E8A-4147-A177-3AD203B41FA5}">
                      <a16:colId xmlns:a16="http://schemas.microsoft.com/office/drawing/2014/main" val="3567309984"/>
                    </a:ext>
                  </a:extLst>
                </a:gridCol>
                <a:gridCol w="5819719">
                  <a:extLst>
                    <a:ext uri="{9D8B030D-6E8A-4147-A177-3AD203B41FA5}">
                      <a16:colId xmlns:a16="http://schemas.microsoft.com/office/drawing/2014/main" val="1395318000"/>
                    </a:ext>
                  </a:extLst>
                </a:gridCol>
              </a:tblGrid>
              <a:tr h="385692">
                <a:tc gridSpan="2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SOURCE FILES</a:t>
                      </a:r>
                      <a:endParaRPr lang="en-IN" sz="2000" b="1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3552523"/>
                  </a:ext>
                </a:extLst>
              </a:tr>
              <a:tr h="38569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File 1</a:t>
                      </a:r>
                      <a:endParaRPr lang="en-IN" sz="2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000" u="none" strike="noStrike" dirty="0">
                          <a:effectLst/>
                        </a:rPr>
                        <a:t>Data_Set_A.xlsx  →  610 rows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660743810"/>
                  </a:ext>
                </a:extLst>
              </a:tr>
              <a:tr h="38569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File 2</a:t>
                      </a:r>
                      <a:endParaRPr lang="en-IN" sz="2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Project_3.xlsx   →  390 rows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405021323"/>
                  </a:ext>
                </a:extLst>
              </a:tr>
              <a:tr h="38569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Merge Strategy</a:t>
                      </a:r>
                      <a:endParaRPr lang="en-IN" sz="2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Vertical concat (no overlapping IDs)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564510883"/>
                  </a:ext>
                </a:extLst>
              </a:tr>
              <a:tr h="38569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4216117612"/>
                  </a:ext>
                </a:extLst>
              </a:tr>
              <a:tr h="385692">
                <a:tc gridSpan="2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SHAPE</a:t>
                      </a:r>
                      <a:endParaRPr lang="en-IN" sz="2000" b="1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702069"/>
                  </a:ext>
                </a:extLst>
              </a:tr>
              <a:tr h="38569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After Merge</a:t>
                      </a:r>
                      <a:endParaRPr lang="en-IN" sz="2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1,000 rows × 16 columns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276583534"/>
                  </a:ext>
                </a:extLst>
              </a:tr>
              <a:tr h="38569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After Preprocessing</a:t>
                      </a:r>
                      <a:endParaRPr lang="en-IN" sz="2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000" u="none" strike="noStrike" dirty="0">
                          <a:effectLst/>
                        </a:rPr>
                        <a:t>1,000 rows × 16 columns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0055547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047135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606BFF4-A589-3055-D51B-1B5BAE79F5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6226417"/>
              </p:ext>
            </p:extLst>
          </p:nvPr>
        </p:nvGraphicFramePr>
        <p:xfrm>
          <a:off x="1206631" y="1018095"/>
          <a:ext cx="9690755" cy="466627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65911">
                  <a:extLst>
                    <a:ext uri="{9D8B030D-6E8A-4147-A177-3AD203B41FA5}">
                      <a16:colId xmlns:a16="http://schemas.microsoft.com/office/drawing/2014/main" val="1575486208"/>
                    </a:ext>
                  </a:extLst>
                </a:gridCol>
                <a:gridCol w="6024844">
                  <a:extLst>
                    <a:ext uri="{9D8B030D-6E8A-4147-A177-3AD203B41FA5}">
                      <a16:colId xmlns:a16="http://schemas.microsoft.com/office/drawing/2014/main" val="3745858122"/>
                    </a:ext>
                  </a:extLst>
                </a:gridCol>
              </a:tblGrid>
              <a:tr h="583284">
                <a:tc gridSpan="2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MISSING VALUES</a:t>
                      </a:r>
                      <a:endParaRPr lang="en-IN" sz="2000" b="1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6283157"/>
                  </a:ext>
                </a:extLst>
              </a:tr>
              <a:tr h="58328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Missing Before</a:t>
                      </a:r>
                      <a:endParaRPr lang="en-IN" sz="2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0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381854399"/>
                  </a:ext>
                </a:extLst>
              </a:tr>
              <a:tr h="58328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Strategy</a:t>
                      </a:r>
                      <a:endParaRPr lang="en-IN" sz="2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000" u="none" strike="noStrike" dirty="0">
                          <a:effectLst/>
                        </a:rPr>
                        <a:t>Median imputation (numeric), "No"/"Clear" (categorical)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107596887"/>
                  </a:ext>
                </a:extLst>
              </a:tr>
              <a:tr h="58328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Missing After</a:t>
                      </a:r>
                      <a:endParaRPr lang="en-IN" sz="2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0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289366120"/>
                  </a:ext>
                </a:extLst>
              </a:tr>
              <a:tr h="58328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4231232607"/>
                  </a:ext>
                </a:extLst>
              </a:tr>
              <a:tr h="583284">
                <a:tc gridSpan="2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0" u="none" strike="noStrike" dirty="0">
                          <a:effectLst/>
                        </a:rPr>
                        <a:t>DUPLICATES</a:t>
                      </a:r>
                      <a:endParaRPr lang="en-IN" sz="200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2966149"/>
                  </a:ext>
                </a:extLst>
              </a:tr>
              <a:tr h="58328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Duplicates Found</a:t>
                      </a:r>
                      <a:endParaRPr lang="en-IN" sz="2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0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614679202"/>
                  </a:ext>
                </a:extLst>
              </a:tr>
              <a:tr h="58328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Duplicates Dropped</a:t>
                      </a:r>
                      <a:endParaRPr lang="en-IN" sz="2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000" u="none" strike="noStrike" dirty="0">
                          <a:effectLst/>
                        </a:rPr>
                        <a:t>0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9607332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1281365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7C60B9F-CF3E-4AC5-5413-80E5648ED6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635252"/>
              </p:ext>
            </p:extLst>
          </p:nvPr>
        </p:nvGraphicFramePr>
        <p:xfrm>
          <a:off x="1187777" y="1018095"/>
          <a:ext cx="9935852" cy="493964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758628">
                  <a:extLst>
                    <a:ext uri="{9D8B030D-6E8A-4147-A177-3AD203B41FA5}">
                      <a16:colId xmlns:a16="http://schemas.microsoft.com/office/drawing/2014/main" val="2076482765"/>
                    </a:ext>
                  </a:extLst>
                </a:gridCol>
                <a:gridCol w="6177224">
                  <a:extLst>
                    <a:ext uri="{9D8B030D-6E8A-4147-A177-3AD203B41FA5}">
                      <a16:colId xmlns:a16="http://schemas.microsoft.com/office/drawing/2014/main" val="3613247457"/>
                    </a:ext>
                  </a:extLst>
                </a:gridCol>
              </a:tblGrid>
              <a:tr h="548849">
                <a:tc gridSpan="2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STRING / CATEGORICAL FIXES</a:t>
                      </a:r>
                      <a:endParaRPr lang="en-IN" sz="2000" b="1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5523243"/>
                  </a:ext>
                </a:extLst>
              </a:tr>
              <a:tr h="54884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Columns Cleaned</a:t>
                      </a:r>
                      <a:endParaRPr lang="en-IN" sz="2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Month, Season, Weekday, Is_Holiday, Weather_Situation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4276612125"/>
                  </a:ext>
                </a:extLst>
              </a:tr>
              <a:tr h="54884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Operations</a:t>
                      </a:r>
                      <a:endParaRPr lang="en-IN" sz="2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strip whitespace, title-case, variant mapping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642288310"/>
                  </a:ext>
                </a:extLst>
              </a:tr>
              <a:tr h="54884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Weather Variants Unified</a:t>
                      </a:r>
                      <a:endParaRPr lang="en-IN" sz="2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000" u="none" strike="noStrike" dirty="0">
                          <a:effectLst/>
                        </a:rPr>
                        <a:t>4 categories standardised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985459323"/>
                  </a:ext>
                </a:extLst>
              </a:tr>
              <a:tr h="54884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761530886"/>
                  </a:ext>
                </a:extLst>
              </a:tr>
              <a:tr h="548849">
                <a:tc gridSpan="2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NUMERIC CONSISTENCY FIXES</a:t>
                      </a:r>
                      <a:endParaRPr lang="en-IN" sz="2000" b="1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4966427"/>
                  </a:ext>
                </a:extLst>
              </a:tr>
              <a:tr h="54884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Humidity_Pct</a:t>
                      </a:r>
                      <a:endParaRPr lang="en-IN" sz="2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Clipped to valid range 0–100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918642083"/>
                  </a:ext>
                </a:extLst>
              </a:tr>
              <a:tr h="54884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User Counts</a:t>
                      </a:r>
                      <a:endParaRPr lang="en-IN" sz="2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Negative values clipped to 0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4139426365"/>
                  </a:ext>
                </a:extLst>
              </a:tr>
              <a:tr h="54884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Total_Users</a:t>
                      </a:r>
                      <a:endParaRPr lang="en-IN" sz="2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000" u="none" strike="noStrike" dirty="0">
                          <a:effectLst/>
                        </a:rPr>
                        <a:t>Recomputed as Casual + Registered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9221246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938702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B8D1C02-C186-BE28-7549-2986685AE7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0359698"/>
              </p:ext>
            </p:extLst>
          </p:nvPr>
        </p:nvGraphicFramePr>
        <p:xfrm>
          <a:off x="1178351" y="1074656"/>
          <a:ext cx="9869863" cy="483595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733665">
                  <a:extLst>
                    <a:ext uri="{9D8B030D-6E8A-4147-A177-3AD203B41FA5}">
                      <a16:colId xmlns:a16="http://schemas.microsoft.com/office/drawing/2014/main" val="2275106118"/>
                    </a:ext>
                  </a:extLst>
                </a:gridCol>
                <a:gridCol w="6136198">
                  <a:extLst>
                    <a:ext uri="{9D8B030D-6E8A-4147-A177-3AD203B41FA5}">
                      <a16:colId xmlns:a16="http://schemas.microsoft.com/office/drawing/2014/main" val="1668335066"/>
                    </a:ext>
                  </a:extLst>
                </a:gridCol>
              </a:tblGrid>
              <a:tr h="1208988">
                <a:tc gridSpan="2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 dirty="0">
                          <a:effectLst/>
                        </a:rPr>
                        <a:t>NEW COLUMNS ADDED (from P3)</a:t>
                      </a:r>
                      <a:endParaRPr lang="en-US" sz="200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3142831"/>
                  </a:ext>
                </a:extLst>
              </a:tr>
              <a:tr h="120898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Year</a:t>
                      </a:r>
                      <a:endParaRPr lang="en-IN" sz="2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000" u="none" strike="noStrike" dirty="0">
                          <a:effectLst/>
                        </a:rPr>
                        <a:t>Extracted from Date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384882197"/>
                  </a:ext>
                </a:extLst>
              </a:tr>
              <a:tr h="120898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Season</a:t>
                      </a:r>
                      <a:endParaRPr lang="en-IN" sz="2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Derived from Month (Spring/Summer/Autumn/Winter)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4136265595"/>
                  </a:ext>
                </a:extLst>
              </a:tr>
              <a:tr h="120898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Is_Holiday</a:t>
                      </a:r>
                      <a:endParaRPr lang="en-IN" sz="2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u="none" strike="noStrike" dirty="0">
                          <a:effectLst/>
                        </a:rPr>
                        <a:t>Defaulted to "No" for P3 subset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627449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587121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41</TotalTime>
  <Words>1556</Words>
  <Application>Microsoft Office PowerPoint</Application>
  <PresentationFormat>Widescreen</PresentationFormat>
  <Paragraphs>305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7" baseType="lpstr">
      <vt:lpstr>Arial</vt:lpstr>
      <vt:lpstr>Calibri</vt:lpstr>
      <vt:lpstr>Garamond</vt:lpstr>
      <vt:lpstr>Organic</vt:lpstr>
      <vt:lpstr>NextHikes IT Solutions  Bike Sharing Demand Analysis Project Using Excel</vt:lpstr>
      <vt:lpstr>Priyanka Singh</vt:lpstr>
      <vt:lpstr>Project 1 - Data Set 1 Preprocess Report</vt:lpstr>
      <vt:lpstr>PowerPoint Presentation</vt:lpstr>
      <vt:lpstr>PowerPoint Presentation</vt:lpstr>
      <vt:lpstr>PowerPoint Presentation</vt:lpstr>
      <vt:lpstr>Project 2 - Data Set 2 Preprocess Report</vt:lpstr>
      <vt:lpstr>PowerPoint Presentation</vt:lpstr>
      <vt:lpstr>PowerPoint Presentation</vt:lpstr>
      <vt:lpstr>Project 3 - Data Set 3 Preprocess Report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Data Set A (Merge Project 1+2)</vt:lpstr>
      <vt:lpstr>PowerPoint Presentation</vt:lpstr>
      <vt:lpstr>PowerPoint Presentation</vt:lpstr>
      <vt:lpstr>PowerPoint Presentation</vt:lpstr>
      <vt:lpstr>Data Set B (Merge Data Set A + Project 3)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Kaustav Tomar</dc:creator>
  <cp:lastModifiedBy>Kaustav Tomar</cp:lastModifiedBy>
  <cp:revision>5</cp:revision>
  <dcterms:created xsi:type="dcterms:W3CDTF">2026-05-12T13:57:57Z</dcterms:created>
  <dcterms:modified xsi:type="dcterms:W3CDTF">2026-05-13T12:53:24Z</dcterms:modified>
</cp:coreProperties>
</file>